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5" r:id="rId7"/>
    <p:sldId id="258" r:id="rId8"/>
    <p:sldId id="259" r:id="rId9"/>
    <p:sldId id="260" r:id="rId10"/>
    <p:sldId id="261" r:id="rId11"/>
    <p:sldId id="262" r:id="rId12"/>
    <p:sldId id="264"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3DA8EEF1-A9E1-4B7E-A3C2-7D9346A0F2B4}"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FA04D3A-0AF4-4566-AD76-C237EAB10D75}">
      <dgm:prSet/>
      <dgm:spPr/>
      <dgm:t>
        <a:bodyPr/>
        <a:lstStyle/>
        <a:p>
          <a:pPr>
            <a:defRPr cap="all"/>
          </a:pPr>
          <a:r>
            <a:rPr lang="en-CA" dirty="0">
              <a:latin typeface="Arial" panose="020B0604020202020204" pitchFamily="34" charset="0"/>
              <a:cs typeface="Arial" panose="020B0604020202020204" pitchFamily="34" charset="0"/>
            </a:rPr>
            <a:t>Water Heater</a:t>
          </a:r>
          <a:endParaRPr lang="en-US" dirty="0">
            <a:latin typeface="Arial" panose="020B0604020202020204" pitchFamily="34" charset="0"/>
            <a:cs typeface="Arial" panose="020B0604020202020204" pitchFamily="34" charset="0"/>
          </a:endParaRPr>
        </a:p>
      </dgm:t>
    </dgm:pt>
    <dgm:pt modelId="{2A0465D7-AAE4-491E-96DB-E3483DB52BD0}" type="parTrans" cxnId="{8DBC9B52-9186-4F61-9EC1-8E66DDD8D40C}">
      <dgm:prSet/>
      <dgm:spPr/>
      <dgm:t>
        <a:bodyPr/>
        <a:lstStyle/>
        <a:p>
          <a:endParaRPr lang="en-US"/>
        </a:p>
      </dgm:t>
    </dgm:pt>
    <dgm:pt modelId="{DE264427-65E2-49C9-80FA-B08B1CE735D6}" type="sibTrans" cxnId="{8DBC9B52-9186-4F61-9EC1-8E66DDD8D40C}">
      <dgm:prSet/>
      <dgm:spPr/>
      <dgm:t>
        <a:bodyPr/>
        <a:lstStyle/>
        <a:p>
          <a:endParaRPr lang="en-US"/>
        </a:p>
      </dgm:t>
    </dgm:pt>
    <dgm:pt modelId="{0DB7E9CA-3E59-49C4-8C74-B9A77F714119}">
      <dgm:prSet/>
      <dgm:spPr/>
      <dgm:t>
        <a:bodyPr/>
        <a:lstStyle/>
        <a:p>
          <a:pPr>
            <a:defRPr cap="all"/>
          </a:pPr>
          <a:r>
            <a:rPr lang="en-CA" dirty="0">
              <a:latin typeface="Arial" panose="020B0604020202020204" pitchFamily="34" charset="0"/>
              <a:cs typeface="Arial" panose="020B0604020202020204" pitchFamily="34" charset="0"/>
            </a:rPr>
            <a:t>Heat Recovery Ventilator(HRV)</a:t>
          </a:r>
          <a:endParaRPr lang="en-US" dirty="0">
            <a:latin typeface="Arial" panose="020B0604020202020204" pitchFamily="34" charset="0"/>
            <a:cs typeface="Arial" panose="020B0604020202020204" pitchFamily="34" charset="0"/>
          </a:endParaRPr>
        </a:p>
      </dgm:t>
    </dgm:pt>
    <dgm:pt modelId="{26660D43-F538-4F0C-B5C1-0200F18BE982}" type="parTrans" cxnId="{90C1C798-69DA-4781-9587-3EF01F1A6B88}">
      <dgm:prSet/>
      <dgm:spPr/>
      <dgm:t>
        <a:bodyPr/>
        <a:lstStyle/>
        <a:p>
          <a:endParaRPr lang="en-US"/>
        </a:p>
      </dgm:t>
    </dgm:pt>
    <dgm:pt modelId="{18873029-A649-4FCC-B77E-4A7B20965AAC}" type="sibTrans" cxnId="{90C1C798-69DA-4781-9587-3EF01F1A6B88}">
      <dgm:prSet/>
      <dgm:spPr/>
      <dgm:t>
        <a:bodyPr/>
        <a:lstStyle/>
        <a:p>
          <a:endParaRPr lang="en-US"/>
        </a:p>
      </dgm:t>
    </dgm:pt>
    <dgm:pt modelId="{36AB8313-3D4E-4A2A-8A31-8126FDB65D1F}">
      <dgm:prSet/>
      <dgm:spPr/>
      <dgm:t>
        <a:bodyPr/>
        <a:lstStyle/>
        <a:p>
          <a:pPr>
            <a:defRPr cap="all"/>
          </a:pPr>
          <a:r>
            <a:rPr lang="en-CA" dirty="0">
              <a:latin typeface="Arial" panose="020B0604020202020204" pitchFamily="34" charset="0"/>
              <a:cs typeface="Arial" panose="020B0604020202020204" pitchFamily="34" charset="0"/>
            </a:rPr>
            <a:t>Heating and Cooling System</a:t>
          </a:r>
          <a:endParaRPr lang="en-US" dirty="0">
            <a:latin typeface="Arial" panose="020B0604020202020204" pitchFamily="34" charset="0"/>
            <a:cs typeface="Arial" panose="020B0604020202020204" pitchFamily="34" charset="0"/>
          </a:endParaRPr>
        </a:p>
      </dgm:t>
    </dgm:pt>
    <dgm:pt modelId="{24E7F1EF-FABC-466F-886F-AF520CC5034A}" type="parTrans" cxnId="{E035C19A-C956-418F-B789-DE657250AE15}">
      <dgm:prSet/>
      <dgm:spPr/>
      <dgm:t>
        <a:bodyPr/>
        <a:lstStyle/>
        <a:p>
          <a:endParaRPr lang="en-US"/>
        </a:p>
      </dgm:t>
    </dgm:pt>
    <dgm:pt modelId="{31A52452-DFAD-452B-9857-A811FE7E898C}" type="sibTrans" cxnId="{E035C19A-C956-418F-B789-DE657250AE15}">
      <dgm:prSet/>
      <dgm:spPr/>
      <dgm:t>
        <a:bodyPr/>
        <a:lstStyle/>
        <a:p>
          <a:endParaRPr lang="en-US"/>
        </a:p>
      </dgm:t>
    </dgm:pt>
    <dgm:pt modelId="{54FA0B5F-E846-4C93-8F85-11F17EC360DF}" type="pres">
      <dgm:prSet presAssocID="{3DA8EEF1-A9E1-4B7E-A3C2-7D9346A0F2B4}" presName="root" presStyleCnt="0">
        <dgm:presLayoutVars>
          <dgm:dir/>
          <dgm:resizeHandles val="exact"/>
        </dgm:presLayoutVars>
      </dgm:prSet>
      <dgm:spPr/>
    </dgm:pt>
    <dgm:pt modelId="{A529EA9C-7615-41F7-832F-433905779C67}" type="pres">
      <dgm:prSet presAssocID="{5FA04D3A-0AF4-4566-AD76-C237EAB10D75}" presName="compNode" presStyleCnt="0"/>
      <dgm:spPr/>
    </dgm:pt>
    <dgm:pt modelId="{87ACAD8B-D105-4A3D-8437-644803DA5BBD}" type="pres">
      <dgm:prSet presAssocID="{5FA04D3A-0AF4-4566-AD76-C237EAB10D75}" presName="iconBgRect" presStyleLbl="bgShp" presStyleIdx="0" presStyleCnt="3"/>
      <dgm:spPr>
        <a:prstGeom prst="round2DiagRect">
          <a:avLst>
            <a:gd name="adj1" fmla="val 29727"/>
            <a:gd name="adj2" fmla="val 0"/>
          </a:avLst>
        </a:prstGeom>
      </dgm:spPr>
    </dgm:pt>
    <dgm:pt modelId="{15980677-45C6-40A5-A91D-54F846B7A9EB}" type="pres">
      <dgm:prSet presAssocID="{5FA04D3A-0AF4-4566-AD76-C237EAB10D7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rmometer"/>
        </a:ext>
      </dgm:extLst>
    </dgm:pt>
    <dgm:pt modelId="{0BDA14B6-9700-4FA0-B1F4-37D905A55960}" type="pres">
      <dgm:prSet presAssocID="{5FA04D3A-0AF4-4566-AD76-C237EAB10D75}" presName="spaceRect" presStyleCnt="0"/>
      <dgm:spPr/>
    </dgm:pt>
    <dgm:pt modelId="{F8961748-F294-4141-A8F4-F26EDCCE96DB}" type="pres">
      <dgm:prSet presAssocID="{5FA04D3A-0AF4-4566-AD76-C237EAB10D75}" presName="textRect" presStyleLbl="revTx" presStyleIdx="0" presStyleCnt="3">
        <dgm:presLayoutVars>
          <dgm:chMax val="1"/>
          <dgm:chPref val="1"/>
        </dgm:presLayoutVars>
      </dgm:prSet>
      <dgm:spPr/>
    </dgm:pt>
    <dgm:pt modelId="{007AEC4F-FFBE-4998-B38E-F4744131B248}" type="pres">
      <dgm:prSet presAssocID="{DE264427-65E2-49C9-80FA-B08B1CE735D6}" presName="sibTrans" presStyleCnt="0"/>
      <dgm:spPr/>
    </dgm:pt>
    <dgm:pt modelId="{F086C992-3E12-4FEE-AA3C-92B6FE92B87C}" type="pres">
      <dgm:prSet presAssocID="{0DB7E9CA-3E59-49C4-8C74-B9A77F714119}" presName="compNode" presStyleCnt="0"/>
      <dgm:spPr/>
    </dgm:pt>
    <dgm:pt modelId="{A11427A4-EA9E-46E0-9B9D-14BF7054A405}" type="pres">
      <dgm:prSet presAssocID="{0DB7E9CA-3E59-49C4-8C74-B9A77F714119}" presName="iconBgRect" presStyleLbl="bgShp" presStyleIdx="1" presStyleCnt="3"/>
      <dgm:spPr>
        <a:prstGeom prst="round2DiagRect">
          <a:avLst>
            <a:gd name="adj1" fmla="val 29727"/>
            <a:gd name="adj2" fmla="val 0"/>
          </a:avLst>
        </a:prstGeom>
      </dgm:spPr>
    </dgm:pt>
    <dgm:pt modelId="{4729EB48-C125-42F1-B041-854FE531B825}" type="pres">
      <dgm:prSet presAssocID="{0DB7E9CA-3E59-49C4-8C74-B9A77F71411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re"/>
        </a:ext>
      </dgm:extLst>
    </dgm:pt>
    <dgm:pt modelId="{51F97134-4256-4DE8-A07A-3F81B80A32B3}" type="pres">
      <dgm:prSet presAssocID="{0DB7E9CA-3E59-49C4-8C74-B9A77F714119}" presName="spaceRect" presStyleCnt="0"/>
      <dgm:spPr/>
    </dgm:pt>
    <dgm:pt modelId="{5A6DD952-8414-44AA-B26E-9680BD54AA22}" type="pres">
      <dgm:prSet presAssocID="{0DB7E9CA-3E59-49C4-8C74-B9A77F714119}" presName="textRect" presStyleLbl="revTx" presStyleIdx="1" presStyleCnt="3">
        <dgm:presLayoutVars>
          <dgm:chMax val="1"/>
          <dgm:chPref val="1"/>
        </dgm:presLayoutVars>
      </dgm:prSet>
      <dgm:spPr/>
    </dgm:pt>
    <dgm:pt modelId="{AEA0143C-60B0-4C6F-A4BF-5010E977F799}" type="pres">
      <dgm:prSet presAssocID="{18873029-A649-4FCC-B77E-4A7B20965AAC}" presName="sibTrans" presStyleCnt="0"/>
      <dgm:spPr/>
    </dgm:pt>
    <dgm:pt modelId="{5A30F56B-10DD-4826-B297-CA72E12872DA}" type="pres">
      <dgm:prSet presAssocID="{36AB8313-3D4E-4A2A-8A31-8126FDB65D1F}" presName="compNode" presStyleCnt="0"/>
      <dgm:spPr/>
    </dgm:pt>
    <dgm:pt modelId="{121B8A6F-C7DE-4E1E-80EA-82B35BE24849}" type="pres">
      <dgm:prSet presAssocID="{36AB8313-3D4E-4A2A-8A31-8126FDB65D1F}" presName="iconBgRect" presStyleLbl="bgShp" presStyleIdx="2" presStyleCnt="3"/>
      <dgm:spPr>
        <a:prstGeom prst="round2DiagRect">
          <a:avLst>
            <a:gd name="adj1" fmla="val 29727"/>
            <a:gd name="adj2" fmla="val 0"/>
          </a:avLst>
        </a:prstGeom>
      </dgm:spPr>
    </dgm:pt>
    <dgm:pt modelId="{98616EEA-3C51-4B7D-9953-043600DCE0A7}" type="pres">
      <dgm:prSet presAssocID="{36AB8313-3D4E-4A2A-8A31-8126FDB65D1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nowflake"/>
        </a:ext>
      </dgm:extLst>
    </dgm:pt>
    <dgm:pt modelId="{764AAE21-C544-42BE-8356-6637A5F920D0}" type="pres">
      <dgm:prSet presAssocID="{36AB8313-3D4E-4A2A-8A31-8126FDB65D1F}" presName="spaceRect" presStyleCnt="0"/>
      <dgm:spPr/>
    </dgm:pt>
    <dgm:pt modelId="{3CEC3FE0-3EF3-44F2-A491-BE46E6A179C2}" type="pres">
      <dgm:prSet presAssocID="{36AB8313-3D4E-4A2A-8A31-8126FDB65D1F}" presName="textRect" presStyleLbl="revTx" presStyleIdx="2" presStyleCnt="3">
        <dgm:presLayoutVars>
          <dgm:chMax val="1"/>
          <dgm:chPref val="1"/>
        </dgm:presLayoutVars>
      </dgm:prSet>
      <dgm:spPr/>
    </dgm:pt>
  </dgm:ptLst>
  <dgm:cxnLst>
    <dgm:cxn modelId="{1A6FD82C-7F78-4428-9D27-876D69DF0631}" type="presOf" srcId="{36AB8313-3D4E-4A2A-8A31-8126FDB65D1F}" destId="{3CEC3FE0-3EF3-44F2-A491-BE46E6A179C2}" srcOrd="0" destOrd="0" presId="urn:microsoft.com/office/officeart/2018/5/layout/IconLeafLabelList"/>
    <dgm:cxn modelId="{4EA6FB70-1533-47CB-81FE-98AF52DBE7B5}" type="presOf" srcId="{0DB7E9CA-3E59-49C4-8C74-B9A77F714119}" destId="{5A6DD952-8414-44AA-B26E-9680BD54AA22}" srcOrd="0" destOrd="0" presId="urn:microsoft.com/office/officeart/2018/5/layout/IconLeafLabelList"/>
    <dgm:cxn modelId="{8DBC9B52-9186-4F61-9EC1-8E66DDD8D40C}" srcId="{3DA8EEF1-A9E1-4B7E-A3C2-7D9346A0F2B4}" destId="{5FA04D3A-0AF4-4566-AD76-C237EAB10D75}" srcOrd="0" destOrd="0" parTransId="{2A0465D7-AAE4-491E-96DB-E3483DB52BD0}" sibTransId="{DE264427-65E2-49C9-80FA-B08B1CE735D6}"/>
    <dgm:cxn modelId="{90C1C798-69DA-4781-9587-3EF01F1A6B88}" srcId="{3DA8EEF1-A9E1-4B7E-A3C2-7D9346A0F2B4}" destId="{0DB7E9CA-3E59-49C4-8C74-B9A77F714119}" srcOrd="1" destOrd="0" parTransId="{26660D43-F538-4F0C-B5C1-0200F18BE982}" sibTransId="{18873029-A649-4FCC-B77E-4A7B20965AAC}"/>
    <dgm:cxn modelId="{E035C19A-C956-418F-B789-DE657250AE15}" srcId="{3DA8EEF1-A9E1-4B7E-A3C2-7D9346A0F2B4}" destId="{36AB8313-3D4E-4A2A-8A31-8126FDB65D1F}" srcOrd="2" destOrd="0" parTransId="{24E7F1EF-FABC-466F-886F-AF520CC5034A}" sibTransId="{31A52452-DFAD-452B-9857-A811FE7E898C}"/>
    <dgm:cxn modelId="{DFEB2DF3-79D5-4003-8EF4-9FF3A7841969}" type="presOf" srcId="{5FA04D3A-0AF4-4566-AD76-C237EAB10D75}" destId="{F8961748-F294-4141-A8F4-F26EDCCE96DB}" srcOrd="0" destOrd="0" presId="urn:microsoft.com/office/officeart/2018/5/layout/IconLeafLabelList"/>
    <dgm:cxn modelId="{19C080F3-490E-4AC4-AE56-852F22A8990D}" type="presOf" srcId="{3DA8EEF1-A9E1-4B7E-A3C2-7D9346A0F2B4}" destId="{54FA0B5F-E846-4C93-8F85-11F17EC360DF}" srcOrd="0" destOrd="0" presId="urn:microsoft.com/office/officeart/2018/5/layout/IconLeafLabelList"/>
    <dgm:cxn modelId="{0919D1BD-F655-466D-B5F5-A84B79083FF0}" type="presParOf" srcId="{54FA0B5F-E846-4C93-8F85-11F17EC360DF}" destId="{A529EA9C-7615-41F7-832F-433905779C67}" srcOrd="0" destOrd="0" presId="urn:microsoft.com/office/officeart/2018/5/layout/IconLeafLabelList"/>
    <dgm:cxn modelId="{D84A87DD-3A33-4A86-B365-E492A3E66E8F}" type="presParOf" srcId="{A529EA9C-7615-41F7-832F-433905779C67}" destId="{87ACAD8B-D105-4A3D-8437-644803DA5BBD}" srcOrd="0" destOrd="0" presId="urn:microsoft.com/office/officeart/2018/5/layout/IconLeafLabelList"/>
    <dgm:cxn modelId="{57FF112C-54D8-4A0B-9888-4F24364BEC00}" type="presParOf" srcId="{A529EA9C-7615-41F7-832F-433905779C67}" destId="{15980677-45C6-40A5-A91D-54F846B7A9EB}" srcOrd="1" destOrd="0" presId="urn:microsoft.com/office/officeart/2018/5/layout/IconLeafLabelList"/>
    <dgm:cxn modelId="{1B3B1C00-6E43-4902-810F-33726C71C277}" type="presParOf" srcId="{A529EA9C-7615-41F7-832F-433905779C67}" destId="{0BDA14B6-9700-4FA0-B1F4-37D905A55960}" srcOrd="2" destOrd="0" presId="urn:microsoft.com/office/officeart/2018/5/layout/IconLeafLabelList"/>
    <dgm:cxn modelId="{C881CF41-8149-4516-A151-1E71F37DAD0D}" type="presParOf" srcId="{A529EA9C-7615-41F7-832F-433905779C67}" destId="{F8961748-F294-4141-A8F4-F26EDCCE96DB}" srcOrd="3" destOrd="0" presId="urn:microsoft.com/office/officeart/2018/5/layout/IconLeafLabelList"/>
    <dgm:cxn modelId="{AEE43CED-D557-44D2-8BDF-0D3310D81BB3}" type="presParOf" srcId="{54FA0B5F-E846-4C93-8F85-11F17EC360DF}" destId="{007AEC4F-FFBE-4998-B38E-F4744131B248}" srcOrd="1" destOrd="0" presId="urn:microsoft.com/office/officeart/2018/5/layout/IconLeafLabelList"/>
    <dgm:cxn modelId="{DF3A3B3C-F1FC-44BB-BBB8-D9DD1B3310C8}" type="presParOf" srcId="{54FA0B5F-E846-4C93-8F85-11F17EC360DF}" destId="{F086C992-3E12-4FEE-AA3C-92B6FE92B87C}" srcOrd="2" destOrd="0" presId="urn:microsoft.com/office/officeart/2018/5/layout/IconLeafLabelList"/>
    <dgm:cxn modelId="{F4BEEAED-7474-4FC4-B7B4-AB0171B2617F}" type="presParOf" srcId="{F086C992-3E12-4FEE-AA3C-92B6FE92B87C}" destId="{A11427A4-EA9E-46E0-9B9D-14BF7054A405}" srcOrd="0" destOrd="0" presId="urn:microsoft.com/office/officeart/2018/5/layout/IconLeafLabelList"/>
    <dgm:cxn modelId="{00E6B1D0-F9BD-4719-AF88-7B963A81D010}" type="presParOf" srcId="{F086C992-3E12-4FEE-AA3C-92B6FE92B87C}" destId="{4729EB48-C125-42F1-B041-854FE531B825}" srcOrd="1" destOrd="0" presId="urn:microsoft.com/office/officeart/2018/5/layout/IconLeafLabelList"/>
    <dgm:cxn modelId="{AC2BAB42-D0CB-40F4-AA75-E9F33CC74F09}" type="presParOf" srcId="{F086C992-3E12-4FEE-AA3C-92B6FE92B87C}" destId="{51F97134-4256-4DE8-A07A-3F81B80A32B3}" srcOrd="2" destOrd="0" presId="urn:microsoft.com/office/officeart/2018/5/layout/IconLeafLabelList"/>
    <dgm:cxn modelId="{9F45F527-3A30-407F-999F-8BCC14B0942A}" type="presParOf" srcId="{F086C992-3E12-4FEE-AA3C-92B6FE92B87C}" destId="{5A6DD952-8414-44AA-B26E-9680BD54AA22}" srcOrd="3" destOrd="0" presId="urn:microsoft.com/office/officeart/2018/5/layout/IconLeafLabelList"/>
    <dgm:cxn modelId="{08C8B0DC-0569-46C5-BFC3-5412C2BAF605}" type="presParOf" srcId="{54FA0B5F-E846-4C93-8F85-11F17EC360DF}" destId="{AEA0143C-60B0-4C6F-A4BF-5010E977F799}" srcOrd="3" destOrd="0" presId="urn:microsoft.com/office/officeart/2018/5/layout/IconLeafLabelList"/>
    <dgm:cxn modelId="{82A9AA91-1338-4F58-ACB1-3BAD1248AF52}" type="presParOf" srcId="{54FA0B5F-E846-4C93-8F85-11F17EC360DF}" destId="{5A30F56B-10DD-4826-B297-CA72E12872DA}" srcOrd="4" destOrd="0" presId="urn:microsoft.com/office/officeart/2018/5/layout/IconLeafLabelList"/>
    <dgm:cxn modelId="{DAAA3447-3FFE-4A6D-A9E6-D65233E73F24}" type="presParOf" srcId="{5A30F56B-10DD-4826-B297-CA72E12872DA}" destId="{121B8A6F-C7DE-4E1E-80EA-82B35BE24849}" srcOrd="0" destOrd="0" presId="urn:microsoft.com/office/officeart/2018/5/layout/IconLeafLabelList"/>
    <dgm:cxn modelId="{CECBBC08-E780-4889-9970-335862872B73}" type="presParOf" srcId="{5A30F56B-10DD-4826-B297-CA72E12872DA}" destId="{98616EEA-3C51-4B7D-9953-043600DCE0A7}" srcOrd="1" destOrd="0" presId="urn:microsoft.com/office/officeart/2018/5/layout/IconLeafLabelList"/>
    <dgm:cxn modelId="{93A56262-721B-4A92-93AA-09A41C3EF8AC}" type="presParOf" srcId="{5A30F56B-10DD-4826-B297-CA72E12872DA}" destId="{764AAE21-C544-42BE-8356-6637A5F920D0}" srcOrd="2" destOrd="0" presId="urn:microsoft.com/office/officeart/2018/5/layout/IconLeafLabelList"/>
    <dgm:cxn modelId="{BB8139BF-DC56-4282-A244-5C75343E501C}" type="presParOf" srcId="{5A30F56B-10DD-4826-B297-CA72E12872DA}" destId="{3CEC3FE0-3EF3-44F2-A491-BE46E6A179C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88830E-C16D-45E5-A3DB-CD77E02F3F9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E5DC3CDE-D5EE-475B-8BBD-0A25AF047FE9}">
      <dgm:prSet/>
      <dgm:spPr/>
      <dgm:t>
        <a:bodyPr/>
        <a:lstStyle/>
        <a:p>
          <a:pPr>
            <a:defRPr cap="all"/>
          </a:pPr>
          <a:r>
            <a:rPr lang="en-CA" dirty="0">
              <a:latin typeface="Arial" panose="020B0604020202020204" pitchFamily="34" charset="0"/>
              <a:cs typeface="Arial" panose="020B0604020202020204" pitchFamily="34" charset="0"/>
            </a:rPr>
            <a:t>Electrical Energy Provider</a:t>
          </a:r>
          <a:endParaRPr lang="en-US" dirty="0">
            <a:latin typeface="Arial" panose="020B0604020202020204" pitchFamily="34" charset="0"/>
            <a:cs typeface="Arial" panose="020B0604020202020204" pitchFamily="34" charset="0"/>
          </a:endParaRPr>
        </a:p>
      </dgm:t>
    </dgm:pt>
    <dgm:pt modelId="{CC1432A0-CCFD-4B78-82E7-2BA8AAE5CE1D}" type="parTrans" cxnId="{DC174DD1-94AA-4513-BC93-CAC1EF009BEC}">
      <dgm:prSet/>
      <dgm:spPr/>
      <dgm:t>
        <a:bodyPr/>
        <a:lstStyle/>
        <a:p>
          <a:endParaRPr lang="en-US"/>
        </a:p>
      </dgm:t>
    </dgm:pt>
    <dgm:pt modelId="{D4DF4B0D-CD35-46FC-9A61-434BD33ACA72}" type="sibTrans" cxnId="{DC174DD1-94AA-4513-BC93-CAC1EF009BEC}">
      <dgm:prSet/>
      <dgm:spPr/>
      <dgm:t>
        <a:bodyPr/>
        <a:lstStyle/>
        <a:p>
          <a:endParaRPr lang="en-US"/>
        </a:p>
      </dgm:t>
    </dgm:pt>
    <dgm:pt modelId="{10C816AC-875C-447F-AB29-76D734A6034A}">
      <dgm:prSet/>
      <dgm:spPr/>
      <dgm:t>
        <a:bodyPr/>
        <a:lstStyle/>
        <a:p>
          <a:pPr>
            <a:defRPr cap="all"/>
          </a:pPr>
          <a:r>
            <a:rPr lang="en-CA" dirty="0">
              <a:latin typeface="Arial" panose="020B0604020202020204" pitchFamily="34" charset="0"/>
              <a:cs typeface="Arial" panose="020B0604020202020204" pitchFamily="34" charset="0"/>
            </a:rPr>
            <a:t>Type of energy for heating and hot water</a:t>
          </a:r>
          <a:endParaRPr lang="en-US" dirty="0">
            <a:latin typeface="Arial" panose="020B0604020202020204" pitchFamily="34" charset="0"/>
            <a:cs typeface="Arial" panose="020B0604020202020204" pitchFamily="34" charset="0"/>
          </a:endParaRPr>
        </a:p>
      </dgm:t>
    </dgm:pt>
    <dgm:pt modelId="{468AE64E-E75F-4300-8A0D-4D3805425B50}" type="parTrans" cxnId="{2E6A8E09-5AD7-4320-BD0C-A4E847BA6A65}">
      <dgm:prSet/>
      <dgm:spPr/>
      <dgm:t>
        <a:bodyPr/>
        <a:lstStyle/>
        <a:p>
          <a:endParaRPr lang="en-US"/>
        </a:p>
      </dgm:t>
    </dgm:pt>
    <dgm:pt modelId="{DD97A041-E152-493D-9FAF-96E2EEE32EC7}" type="sibTrans" cxnId="{2E6A8E09-5AD7-4320-BD0C-A4E847BA6A65}">
      <dgm:prSet/>
      <dgm:spPr/>
      <dgm:t>
        <a:bodyPr/>
        <a:lstStyle/>
        <a:p>
          <a:endParaRPr lang="en-US"/>
        </a:p>
      </dgm:t>
    </dgm:pt>
    <dgm:pt modelId="{0FA0F6A5-D65B-402A-8E81-843541A1A002}" type="pres">
      <dgm:prSet presAssocID="{4188830E-C16D-45E5-A3DB-CD77E02F3F96}" presName="root" presStyleCnt="0">
        <dgm:presLayoutVars>
          <dgm:dir/>
          <dgm:resizeHandles val="exact"/>
        </dgm:presLayoutVars>
      </dgm:prSet>
      <dgm:spPr/>
    </dgm:pt>
    <dgm:pt modelId="{186A5715-68D6-4884-9208-93E0AD26979F}" type="pres">
      <dgm:prSet presAssocID="{E5DC3CDE-D5EE-475B-8BBD-0A25AF047FE9}" presName="compNode" presStyleCnt="0"/>
      <dgm:spPr/>
    </dgm:pt>
    <dgm:pt modelId="{368A1A4F-C459-42F9-A355-2A3E08FA9B88}" type="pres">
      <dgm:prSet presAssocID="{E5DC3CDE-D5EE-475B-8BBD-0A25AF047FE9}" presName="iconBgRect" presStyleLbl="bgShp" presStyleIdx="0" presStyleCnt="2"/>
      <dgm:spPr/>
    </dgm:pt>
    <dgm:pt modelId="{AE6990C9-4C0B-42FA-87BE-9D7A045947FC}" type="pres">
      <dgm:prSet presAssocID="{E5DC3CDE-D5EE-475B-8BBD-0A25AF047F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gh Voltage"/>
        </a:ext>
      </dgm:extLst>
    </dgm:pt>
    <dgm:pt modelId="{7D7E93FC-5BC5-4730-82D2-21283D0EE15F}" type="pres">
      <dgm:prSet presAssocID="{E5DC3CDE-D5EE-475B-8BBD-0A25AF047FE9}" presName="spaceRect" presStyleCnt="0"/>
      <dgm:spPr/>
    </dgm:pt>
    <dgm:pt modelId="{A9F3614E-9DD3-4701-9B51-7BCF8B7975B7}" type="pres">
      <dgm:prSet presAssocID="{E5DC3CDE-D5EE-475B-8BBD-0A25AF047FE9}" presName="textRect" presStyleLbl="revTx" presStyleIdx="0" presStyleCnt="2">
        <dgm:presLayoutVars>
          <dgm:chMax val="1"/>
          <dgm:chPref val="1"/>
        </dgm:presLayoutVars>
      </dgm:prSet>
      <dgm:spPr/>
    </dgm:pt>
    <dgm:pt modelId="{1F775505-A367-4075-9CBA-DD2E710601AC}" type="pres">
      <dgm:prSet presAssocID="{D4DF4B0D-CD35-46FC-9A61-434BD33ACA72}" presName="sibTrans" presStyleCnt="0"/>
      <dgm:spPr/>
    </dgm:pt>
    <dgm:pt modelId="{9D536233-2BD3-4DE0-8E51-79A669F99519}" type="pres">
      <dgm:prSet presAssocID="{10C816AC-875C-447F-AB29-76D734A6034A}" presName="compNode" presStyleCnt="0"/>
      <dgm:spPr/>
    </dgm:pt>
    <dgm:pt modelId="{358A68FC-407C-4677-BBF8-C16B5FB076AB}" type="pres">
      <dgm:prSet presAssocID="{10C816AC-875C-447F-AB29-76D734A6034A}" presName="iconBgRect" presStyleLbl="bgShp" presStyleIdx="1" presStyleCnt="2"/>
      <dgm:spPr/>
    </dgm:pt>
    <dgm:pt modelId="{B26027D7-AA1B-4EC8-9E53-0FFBFA214FB3}" type="pres">
      <dgm:prSet presAssocID="{10C816AC-875C-447F-AB29-76D734A6034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ermometer"/>
        </a:ext>
      </dgm:extLst>
    </dgm:pt>
    <dgm:pt modelId="{9945CF81-5F63-4715-8F62-487B795BF5E2}" type="pres">
      <dgm:prSet presAssocID="{10C816AC-875C-447F-AB29-76D734A6034A}" presName="spaceRect" presStyleCnt="0"/>
      <dgm:spPr/>
    </dgm:pt>
    <dgm:pt modelId="{308F5F54-F0C5-4BCB-B126-4FE2BEFD9810}" type="pres">
      <dgm:prSet presAssocID="{10C816AC-875C-447F-AB29-76D734A6034A}" presName="textRect" presStyleLbl="revTx" presStyleIdx="1" presStyleCnt="2">
        <dgm:presLayoutVars>
          <dgm:chMax val="1"/>
          <dgm:chPref val="1"/>
        </dgm:presLayoutVars>
      </dgm:prSet>
      <dgm:spPr/>
    </dgm:pt>
  </dgm:ptLst>
  <dgm:cxnLst>
    <dgm:cxn modelId="{97458104-4794-4B46-B297-6313E42A76DB}" type="presOf" srcId="{4188830E-C16D-45E5-A3DB-CD77E02F3F96}" destId="{0FA0F6A5-D65B-402A-8E81-843541A1A002}" srcOrd="0" destOrd="0" presId="urn:microsoft.com/office/officeart/2018/5/layout/IconCircleLabelList"/>
    <dgm:cxn modelId="{2E6A8E09-5AD7-4320-BD0C-A4E847BA6A65}" srcId="{4188830E-C16D-45E5-A3DB-CD77E02F3F96}" destId="{10C816AC-875C-447F-AB29-76D734A6034A}" srcOrd="1" destOrd="0" parTransId="{468AE64E-E75F-4300-8A0D-4D3805425B50}" sibTransId="{DD97A041-E152-493D-9FAF-96E2EEE32EC7}"/>
    <dgm:cxn modelId="{48C0C39B-0F2F-4C88-B945-9AE1FFB446C5}" type="presOf" srcId="{10C816AC-875C-447F-AB29-76D734A6034A}" destId="{308F5F54-F0C5-4BCB-B126-4FE2BEFD9810}" srcOrd="0" destOrd="0" presId="urn:microsoft.com/office/officeart/2018/5/layout/IconCircleLabelList"/>
    <dgm:cxn modelId="{A517D4B9-F198-4628-B9A7-3680B56748B5}" type="presOf" srcId="{E5DC3CDE-D5EE-475B-8BBD-0A25AF047FE9}" destId="{A9F3614E-9DD3-4701-9B51-7BCF8B7975B7}" srcOrd="0" destOrd="0" presId="urn:microsoft.com/office/officeart/2018/5/layout/IconCircleLabelList"/>
    <dgm:cxn modelId="{DC174DD1-94AA-4513-BC93-CAC1EF009BEC}" srcId="{4188830E-C16D-45E5-A3DB-CD77E02F3F96}" destId="{E5DC3CDE-D5EE-475B-8BBD-0A25AF047FE9}" srcOrd="0" destOrd="0" parTransId="{CC1432A0-CCFD-4B78-82E7-2BA8AAE5CE1D}" sibTransId="{D4DF4B0D-CD35-46FC-9A61-434BD33ACA72}"/>
    <dgm:cxn modelId="{FED75C08-0108-4FCF-9567-A06F94B1976C}" type="presParOf" srcId="{0FA0F6A5-D65B-402A-8E81-843541A1A002}" destId="{186A5715-68D6-4884-9208-93E0AD26979F}" srcOrd="0" destOrd="0" presId="urn:microsoft.com/office/officeart/2018/5/layout/IconCircleLabelList"/>
    <dgm:cxn modelId="{CFF47F02-AF51-4E17-A74E-60700CE6DF4E}" type="presParOf" srcId="{186A5715-68D6-4884-9208-93E0AD26979F}" destId="{368A1A4F-C459-42F9-A355-2A3E08FA9B88}" srcOrd="0" destOrd="0" presId="urn:microsoft.com/office/officeart/2018/5/layout/IconCircleLabelList"/>
    <dgm:cxn modelId="{8E6B4E3D-E297-4379-A45A-84E08D92CE39}" type="presParOf" srcId="{186A5715-68D6-4884-9208-93E0AD26979F}" destId="{AE6990C9-4C0B-42FA-87BE-9D7A045947FC}" srcOrd="1" destOrd="0" presId="urn:microsoft.com/office/officeart/2018/5/layout/IconCircleLabelList"/>
    <dgm:cxn modelId="{E39CBEA2-7BBD-4B4A-8C1C-657B3EA67E4B}" type="presParOf" srcId="{186A5715-68D6-4884-9208-93E0AD26979F}" destId="{7D7E93FC-5BC5-4730-82D2-21283D0EE15F}" srcOrd="2" destOrd="0" presId="urn:microsoft.com/office/officeart/2018/5/layout/IconCircleLabelList"/>
    <dgm:cxn modelId="{9C594A10-1763-4A26-955C-2FAF82DA15DE}" type="presParOf" srcId="{186A5715-68D6-4884-9208-93E0AD26979F}" destId="{A9F3614E-9DD3-4701-9B51-7BCF8B7975B7}" srcOrd="3" destOrd="0" presId="urn:microsoft.com/office/officeart/2018/5/layout/IconCircleLabelList"/>
    <dgm:cxn modelId="{37E5480A-9BD4-434F-BF70-752896A2131D}" type="presParOf" srcId="{0FA0F6A5-D65B-402A-8E81-843541A1A002}" destId="{1F775505-A367-4075-9CBA-DD2E710601AC}" srcOrd="1" destOrd="0" presId="urn:microsoft.com/office/officeart/2018/5/layout/IconCircleLabelList"/>
    <dgm:cxn modelId="{32596474-F397-4A1F-A5F2-5D719BEBB5D8}" type="presParOf" srcId="{0FA0F6A5-D65B-402A-8E81-843541A1A002}" destId="{9D536233-2BD3-4DE0-8E51-79A669F99519}" srcOrd="2" destOrd="0" presId="urn:microsoft.com/office/officeart/2018/5/layout/IconCircleLabelList"/>
    <dgm:cxn modelId="{63639FF5-1661-48F6-9364-F7DB7925E9FB}" type="presParOf" srcId="{9D536233-2BD3-4DE0-8E51-79A669F99519}" destId="{358A68FC-407C-4677-BBF8-C16B5FB076AB}" srcOrd="0" destOrd="0" presId="urn:microsoft.com/office/officeart/2018/5/layout/IconCircleLabelList"/>
    <dgm:cxn modelId="{1C5151A9-54B6-4FA7-A848-D0754E81AA27}" type="presParOf" srcId="{9D536233-2BD3-4DE0-8E51-79A669F99519}" destId="{B26027D7-AA1B-4EC8-9E53-0FFBFA214FB3}" srcOrd="1" destOrd="0" presId="urn:microsoft.com/office/officeart/2018/5/layout/IconCircleLabelList"/>
    <dgm:cxn modelId="{F8BF3F74-06E7-4AD3-99D0-0ED0F20D9B99}" type="presParOf" srcId="{9D536233-2BD3-4DE0-8E51-79A669F99519}" destId="{9945CF81-5F63-4715-8F62-487B795BF5E2}" srcOrd="2" destOrd="0" presId="urn:microsoft.com/office/officeart/2018/5/layout/IconCircleLabelList"/>
    <dgm:cxn modelId="{3965EA3F-0E59-41CB-A1FD-6E8758576CF5}" type="presParOf" srcId="{9D536233-2BD3-4DE0-8E51-79A669F99519}" destId="{308F5F54-F0C5-4BCB-B126-4FE2BEFD981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CAD8B-D105-4A3D-8437-644803DA5BBD}">
      <dsp:nvSpPr>
        <dsp:cNvPr id="0" name=""/>
        <dsp:cNvSpPr/>
      </dsp:nvSpPr>
      <dsp:spPr>
        <a:xfrm>
          <a:off x="718664" y="453902"/>
          <a:ext cx="1955812" cy="19558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980677-45C6-40A5-A91D-54F846B7A9EB}">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61748-F294-4141-A8F4-F26EDCCE96DB}">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CA" sz="2700" kern="1200" dirty="0">
              <a:latin typeface="Arial" panose="020B0604020202020204" pitchFamily="34" charset="0"/>
              <a:cs typeface="Arial" panose="020B0604020202020204" pitchFamily="34" charset="0"/>
            </a:rPr>
            <a:t>Water Heater</a:t>
          </a:r>
          <a:endParaRPr lang="en-US" sz="2700" kern="1200" dirty="0">
            <a:latin typeface="Arial" panose="020B0604020202020204" pitchFamily="34" charset="0"/>
            <a:cs typeface="Arial" panose="020B0604020202020204" pitchFamily="34" charset="0"/>
          </a:endParaRPr>
        </a:p>
      </dsp:txBody>
      <dsp:txXfrm>
        <a:off x="93445" y="3018902"/>
        <a:ext cx="3206250" cy="720000"/>
      </dsp:txXfrm>
    </dsp:sp>
    <dsp:sp modelId="{A11427A4-EA9E-46E0-9B9D-14BF7054A405}">
      <dsp:nvSpPr>
        <dsp:cNvPr id="0" name=""/>
        <dsp:cNvSpPr/>
      </dsp:nvSpPr>
      <dsp:spPr>
        <a:xfrm>
          <a:off x="4486008" y="453902"/>
          <a:ext cx="1955812" cy="19558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29EB48-C125-42F1-B041-854FE531B825}">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DD952-8414-44AA-B26E-9680BD54AA22}">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CA" sz="2700" kern="1200" dirty="0">
              <a:latin typeface="Arial" panose="020B0604020202020204" pitchFamily="34" charset="0"/>
              <a:cs typeface="Arial" panose="020B0604020202020204" pitchFamily="34" charset="0"/>
            </a:rPr>
            <a:t>Heat Recovery Ventilator(HRV)</a:t>
          </a:r>
          <a:endParaRPr lang="en-US" sz="2700" kern="1200" dirty="0">
            <a:latin typeface="Arial" panose="020B0604020202020204" pitchFamily="34" charset="0"/>
            <a:cs typeface="Arial" panose="020B0604020202020204" pitchFamily="34" charset="0"/>
          </a:endParaRPr>
        </a:p>
      </dsp:txBody>
      <dsp:txXfrm>
        <a:off x="3860789" y="3018902"/>
        <a:ext cx="3206250" cy="720000"/>
      </dsp:txXfrm>
    </dsp:sp>
    <dsp:sp modelId="{121B8A6F-C7DE-4E1E-80EA-82B35BE24849}">
      <dsp:nvSpPr>
        <dsp:cNvPr id="0" name=""/>
        <dsp:cNvSpPr/>
      </dsp:nvSpPr>
      <dsp:spPr>
        <a:xfrm>
          <a:off x="8253352" y="453902"/>
          <a:ext cx="1955812" cy="195581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616EEA-3C51-4B7D-9953-043600DCE0A7}">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EC3FE0-3EF3-44F2-A491-BE46E6A179C2}">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CA" sz="2700" kern="1200" dirty="0">
              <a:latin typeface="Arial" panose="020B0604020202020204" pitchFamily="34" charset="0"/>
              <a:cs typeface="Arial" panose="020B0604020202020204" pitchFamily="34" charset="0"/>
            </a:rPr>
            <a:t>Heating and Cooling System</a:t>
          </a:r>
          <a:endParaRPr lang="en-US" sz="2700" kern="1200" dirty="0">
            <a:latin typeface="Arial" panose="020B0604020202020204" pitchFamily="34" charset="0"/>
            <a:cs typeface="Arial" panose="020B0604020202020204" pitchFamily="34" charset="0"/>
          </a:endParaRPr>
        </a:p>
      </dsp:txBody>
      <dsp:txXfrm>
        <a:off x="7628133" y="3018902"/>
        <a:ext cx="320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8A1A4F-C459-42F9-A355-2A3E08FA9B88}">
      <dsp:nvSpPr>
        <dsp:cNvPr id="0" name=""/>
        <dsp:cNvSpPr/>
      </dsp:nvSpPr>
      <dsp:spPr>
        <a:xfrm>
          <a:off x="2250914" y="296402"/>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6990C9-4C0B-42FA-87BE-9D7A045947FC}">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F3614E-9DD3-4701-9B51-7BCF8B7975B7}">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CA" sz="2200" kern="1200" dirty="0">
              <a:latin typeface="Arial" panose="020B0604020202020204" pitchFamily="34" charset="0"/>
              <a:cs typeface="Arial" panose="020B0604020202020204" pitchFamily="34" charset="0"/>
            </a:rPr>
            <a:t>Electrical Energy Provider</a:t>
          </a:r>
          <a:endParaRPr lang="en-US" sz="2200" kern="1200" dirty="0">
            <a:latin typeface="Arial" panose="020B0604020202020204" pitchFamily="34" charset="0"/>
            <a:cs typeface="Arial" panose="020B0604020202020204" pitchFamily="34" charset="0"/>
          </a:endParaRPr>
        </a:p>
      </dsp:txBody>
      <dsp:txXfrm>
        <a:off x="1548914" y="3176402"/>
        <a:ext cx="3600000" cy="720000"/>
      </dsp:txXfrm>
    </dsp:sp>
    <dsp:sp modelId="{358A68FC-407C-4677-BBF8-C16B5FB076AB}">
      <dsp:nvSpPr>
        <dsp:cNvPr id="0" name=""/>
        <dsp:cNvSpPr/>
      </dsp:nvSpPr>
      <dsp:spPr>
        <a:xfrm>
          <a:off x="6480914" y="296402"/>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6027D7-AA1B-4EC8-9E53-0FFBFA214FB3}">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8F5F54-F0C5-4BCB-B126-4FE2BEFD9810}">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CA" sz="2200" kern="1200" dirty="0">
              <a:latin typeface="Arial" panose="020B0604020202020204" pitchFamily="34" charset="0"/>
              <a:cs typeface="Arial" panose="020B0604020202020204" pitchFamily="34" charset="0"/>
            </a:rPr>
            <a:t>Type of energy for heating and hot water</a:t>
          </a:r>
          <a:endParaRPr lang="en-US" sz="2200" kern="1200" dirty="0">
            <a:latin typeface="Arial" panose="020B0604020202020204" pitchFamily="34" charset="0"/>
            <a:cs typeface="Arial" panose="020B0604020202020204" pitchFamily="34" charset="0"/>
          </a:endParaRPr>
        </a:p>
      </dsp:txBody>
      <dsp:txXfrm>
        <a:off x="5778914" y="3176402"/>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B7687-5DF5-9F81-FBC2-6FB1B74101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985B096-F78D-6B07-CC51-2976845C8E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C98981B-2316-CC41-CE51-B820886CDAC7}"/>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A85DB249-6C64-363A-2485-EB40E89905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B2864AD-45ED-87A6-7E4A-B7D1D74CD4BA}"/>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1695479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722DD-A26A-9605-266C-730F82BAAB0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5E774F3-98E4-2D2A-2CA9-D9EF488A8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8C76476-2B65-04D6-5F6B-E2D410C2568D}"/>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362FDD28-F690-7930-B033-E9665371AAB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17A4B0-3AC0-B31C-4E00-8620A1E39EDC}"/>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2423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F424-B394-2020-635D-8865C5CE94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4C2D9E8-8256-9589-0E6C-F087787FF4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217A3-727E-D69C-F127-E8086194869D}"/>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039E9EE4-9936-5113-90BF-8C8456C73FD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56F0F9D-E2F9-22CA-6A56-D714A057128D}"/>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24128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7A3E-C3CC-0B0C-3271-FF78033424B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FCF7F6C-50C0-3D5E-FFA4-F085A8A554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DD6446F-9A61-D99A-56C4-CD25F86B29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7888817-5375-7C39-4F08-31575D439FB3}"/>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6" name="Footer Placeholder 5">
            <a:extLst>
              <a:ext uri="{FF2B5EF4-FFF2-40B4-BE49-F238E27FC236}">
                <a16:creationId xmlns:a16="http://schemas.microsoft.com/office/drawing/2014/main" id="{78ABB78C-93B1-FA73-4DD0-59423711C5D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6AA13C-F855-4684-8C4D-946F0AE230A5}"/>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46138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68ED4-4440-8C2F-D320-70D8F70EF8E6}"/>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B12043C-B60D-524F-32DA-D445DC29C1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08885D-A4DE-0B67-EA79-4E8A6A72F5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53789BC-9699-BF0A-58AA-A1B59F844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D77C5B-D06A-14CC-0CD7-E9D6241E71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4051B9B-518F-BE76-B09A-F50C5505DE5B}"/>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8" name="Footer Placeholder 7">
            <a:extLst>
              <a:ext uri="{FF2B5EF4-FFF2-40B4-BE49-F238E27FC236}">
                <a16:creationId xmlns:a16="http://schemas.microsoft.com/office/drawing/2014/main" id="{6E823B08-DEE4-5281-FE32-4D6BFA4150D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4CD1584-231B-8E05-66CC-21649034CE25}"/>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1332827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3A8AB-B47F-5006-B243-7130FC22E1D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5B67E6E-2CE1-A43D-4EA8-1B67B23C7DAF}"/>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4" name="Footer Placeholder 3">
            <a:extLst>
              <a:ext uri="{FF2B5EF4-FFF2-40B4-BE49-F238E27FC236}">
                <a16:creationId xmlns:a16="http://schemas.microsoft.com/office/drawing/2014/main" id="{18CD8CBC-EEB5-372E-1122-51AABBBE32E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78B37A3-5078-B2FC-4BDB-4E6569695B29}"/>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259155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1D56E3-86DD-5F17-C87A-6E5723C27187}"/>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3" name="Footer Placeholder 2">
            <a:extLst>
              <a:ext uri="{FF2B5EF4-FFF2-40B4-BE49-F238E27FC236}">
                <a16:creationId xmlns:a16="http://schemas.microsoft.com/office/drawing/2014/main" id="{92ADF722-7520-CFC2-5CF3-44F669A0EF24}"/>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B098A9D-F1CA-FCA5-21E6-061326121921}"/>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962751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0E1C-34A6-71E9-8FFB-8B0D90ED48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AA33621-DD12-1C5F-A902-3DC2705BDB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FF5C523-10BE-21CE-DBEB-A416BDD8D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2F991B-44B7-59BC-1EC6-74B2C0EA2BB3}"/>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6" name="Footer Placeholder 5">
            <a:extLst>
              <a:ext uri="{FF2B5EF4-FFF2-40B4-BE49-F238E27FC236}">
                <a16:creationId xmlns:a16="http://schemas.microsoft.com/office/drawing/2014/main" id="{027FF0BF-D27A-DA12-B505-C129EA66E3B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DCABC9A-F4C4-A462-4C7C-2C0E40E1D625}"/>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215137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7E38-634B-81E2-462F-82C805F5D9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448F017-E2CA-BDC2-9AB2-26C50461C1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C85B84F-F095-4DB7-05AD-D1E0A579B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E3557-BA60-5AE8-BAE8-8B4D10CA5EC1}"/>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6" name="Footer Placeholder 5">
            <a:extLst>
              <a:ext uri="{FF2B5EF4-FFF2-40B4-BE49-F238E27FC236}">
                <a16:creationId xmlns:a16="http://schemas.microsoft.com/office/drawing/2014/main" id="{4DEA0555-9DC9-2CD6-9A39-26A39545AEF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E878750-E061-C929-E15A-20BBF1EDF623}"/>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3722919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030A-95C2-9C3A-A593-CA973FAF8DD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BC89017-FA39-20FA-4BA5-C6C6EE943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A09EDE-BC57-1EA5-10A6-E12AE1CE1A83}"/>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F9022260-C272-F78C-BC81-E8C49517CA0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CD51379-F63A-2238-1431-E74F9006C7A4}"/>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183434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A53F68-0ADE-8385-FFEC-B54FC6A93F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EC8A1D3-85A7-06F4-1CCC-FDD8F84E14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6112CBC-F25A-7619-9B2F-371E81BF5FE6}"/>
              </a:ext>
            </a:extLst>
          </p:cNvPr>
          <p:cNvSpPr>
            <a:spLocks noGrp="1"/>
          </p:cNvSpPr>
          <p:nvPr>
            <p:ph type="dt" sz="half" idx="10"/>
          </p:nvPr>
        </p:nvSpPr>
        <p:spPr/>
        <p:txBody>
          <a:body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C1DEC552-47BE-05D7-D339-42C9A160C2C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E1FAB2D-FFB6-1782-01DB-0577B6C3477B}"/>
              </a:ext>
            </a:extLst>
          </p:cNvPr>
          <p:cNvSpPr>
            <a:spLocks noGrp="1"/>
          </p:cNvSpPr>
          <p:nvPr>
            <p:ph type="sldNum" sz="quarter" idx="12"/>
          </p:nvPr>
        </p:nvSpPr>
        <p:spPr/>
        <p:txBody>
          <a:bodyPr/>
          <a:lstStyle/>
          <a:p>
            <a:fld id="{D97A79E6-DB09-4CBF-9157-49F14DFA730B}" type="slidenum">
              <a:rPr lang="en-CA" smtClean="0"/>
              <a:t>‹#›</a:t>
            </a:fld>
            <a:endParaRPr lang="en-CA"/>
          </a:p>
        </p:txBody>
      </p:sp>
    </p:spTree>
    <p:extLst>
      <p:ext uri="{BB962C8B-B14F-4D97-AF65-F5344CB8AC3E}">
        <p14:creationId xmlns:p14="http://schemas.microsoft.com/office/powerpoint/2010/main" val="3917656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A1E714-ACA8-BEC8-5791-239AC27E4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DF4994C-2AA6-1A9B-A31B-CA9E0F4592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1F5576E-C936-3333-954A-0083B771C5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42288-647C-4F56-A026-964C34A79136}" type="datetimeFigureOut">
              <a:rPr lang="en-CA" smtClean="0"/>
              <a:t>2026-03-11</a:t>
            </a:fld>
            <a:endParaRPr lang="en-CA"/>
          </a:p>
        </p:txBody>
      </p:sp>
      <p:sp>
        <p:nvSpPr>
          <p:cNvPr id="5" name="Footer Placeholder 4">
            <a:extLst>
              <a:ext uri="{FF2B5EF4-FFF2-40B4-BE49-F238E27FC236}">
                <a16:creationId xmlns:a16="http://schemas.microsoft.com/office/drawing/2014/main" id="{F78017F0-72FD-2E4C-ACEB-5C311332FD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82AB47EF-972D-5752-F896-C92987ED2A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7A79E6-DB09-4CBF-9157-49F14DFA730B}" type="slidenum">
              <a:rPr lang="en-CA" smtClean="0"/>
              <a:t>‹#›</a:t>
            </a:fld>
            <a:endParaRPr lang="en-CA"/>
          </a:p>
        </p:txBody>
      </p:sp>
    </p:spTree>
    <p:extLst>
      <p:ext uri="{BB962C8B-B14F-4D97-AF65-F5344CB8AC3E}">
        <p14:creationId xmlns:p14="http://schemas.microsoft.com/office/powerpoint/2010/main" val="3916633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canadianappliance.ca/product/Samsung_NE63A6511SS_Electric_Range_Samsung_NE63A6511SS.html" TargetMode="External"/><Relationship Id="rId2" Type="http://schemas.openxmlformats.org/officeDocument/2006/relationships/hyperlink" Target="https://www.canadianappliance.ca/product/LG_LRFLC2706S_French_Door_Refrigerator_LG_LRFLC2706S.html" TargetMode="External"/><Relationship Id="rId1" Type="http://schemas.openxmlformats.org/officeDocument/2006/relationships/slideLayout" Target="../slideLayouts/slideLayout6.xml"/><Relationship Id="rId6" Type="http://schemas.openxmlformats.org/officeDocument/2006/relationships/hyperlink" Target="https://www.canadianappliance.ca/product/Whirlpool_YWED5720RW_Electric_Dryer_Whirlpool_YWED5720RW.html" TargetMode="External"/><Relationship Id="rId5" Type="http://schemas.openxmlformats.org/officeDocument/2006/relationships/hyperlink" Target="https://www.canadianappliance.ca/product/Whirlpool_WFW5720RW_Front_Load_Washer_Whirlpool_WFW5720RW.html" TargetMode="External"/><Relationship Id="rId4" Type="http://schemas.openxmlformats.org/officeDocument/2006/relationships/hyperlink" Target="https://www.canadianappliance.ca/product/Bosch_SHP78CM5N_Dishwasher_Bosch_SHP78CM5N.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masterbuildermercantile.ca/products/lifebreath-rnc155-residential-heat-recovery-ventilator-hrv-132cfm" TargetMode="External"/><Relationship Id="rId7" Type="http://schemas.openxmlformats.org/officeDocument/2006/relationships/hyperlink" Target="https://www.enbridgegas.com/ontario/my-account/ebill" TargetMode="External"/><Relationship Id="rId2" Type="http://schemas.openxmlformats.org/officeDocument/2006/relationships/hyperlink" Target="https://hvacfixed.ca/product/john-wood-tank-water-heater-50-gallon-power-vent-model-pv50n-40/" TargetMode="External"/><Relationship Id="rId1" Type="http://schemas.openxmlformats.org/officeDocument/2006/relationships/slideLayout" Target="../slideLayouts/slideLayout7.xml"/><Relationship Id="rId6" Type="http://schemas.openxmlformats.org/officeDocument/2006/relationships/hyperlink" Target="https://hydroottawa.com/en" TargetMode="External"/><Relationship Id="rId5" Type="http://schemas.openxmlformats.org/officeDocument/2006/relationships/hyperlink" Target="https://natural-resources.canada.ca/energy-efficiency/energy-star/products" TargetMode="External"/><Relationship Id="rId4" Type="http://schemas.openxmlformats.org/officeDocument/2006/relationships/hyperlink" Target="https://hvacfixed.ca/product/bosch-central-heat-pump-36000-btu-seer-20-5-model-bova36/"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6668" cy="4570886"/>
            <a:chOff x="0" y="0"/>
            <a:chExt cx="12196668" cy="4570886"/>
          </a:xfrm>
        </p:grpSpPr>
        <p:sp>
          <p:nvSpPr>
            <p:cNvPr id="11" name="Rectangle 10">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3DD2E474-85EA-C1E4-C983-AD926F93340B}"/>
              </a:ext>
            </a:extLst>
          </p:cNvPr>
          <p:cNvSpPr>
            <a:spLocks noGrp="1"/>
          </p:cNvSpPr>
          <p:nvPr>
            <p:ph type="ctrTitle"/>
          </p:nvPr>
        </p:nvSpPr>
        <p:spPr>
          <a:xfrm>
            <a:off x="1126348" y="1124262"/>
            <a:ext cx="8017652" cy="2690413"/>
          </a:xfrm>
        </p:spPr>
        <p:txBody>
          <a:bodyPr vert="horz" lIns="91440" tIns="45720" rIns="91440" bIns="45720" rtlCol="0" anchor="t">
            <a:normAutofit/>
          </a:bodyPr>
          <a:lstStyle/>
          <a:p>
            <a:pPr algn="l"/>
            <a:r>
              <a:rPr lang="en-US" sz="5000" kern="1200">
                <a:solidFill>
                  <a:srgbClr val="FFFFFF"/>
                </a:solidFill>
                <a:latin typeface="Arial" panose="020B0604020202020204" pitchFamily="34" charset="0"/>
                <a:cs typeface="Arial" panose="020B0604020202020204" pitchFamily="34" charset="0"/>
              </a:rPr>
              <a:t>Home Appliances and Home Comfort Assignment</a:t>
            </a:r>
            <a:br>
              <a:rPr lang="en-US" sz="5000" kern="1200">
                <a:solidFill>
                  <a:srgbClr val="FFFFFF"/>
                </a:solidFill>
                <a:latin typeface="Arial" panose="020B0604020202020204" pitchFamily="34" charset="0"/>
                <a:cs typeface="Arial" panose="020B0604020202020204" pitchFamily="34" charset="0"/>
              </a:rPr>
            </a:br>
            <a:r>
              <a:rPr lang="en-US" sz="5000" kern="1200">
                <a:solidFill>
                  <a:srgbClr val="FFFFFF"/>
                </a:solidFill>
                <a:latin typeface="Arial" panose="020B0604020202020204" pitchFamily="34" charset="0"/>
                <a:cs typeface="Arial" panose="020B0604020202020204" pitchFamily="34" charset="0"/>
              </a:rPr>
              <a:t>Dream Home in Barrhaven</a:t>
            </a:r>
          </a:p>
        </p:txBody>
      </p:sp>
      <p:sp>
        <p:nvSpPr>
          <p:cNvPr id="3" name="Subtitle 2">
            <a:extLst>
              <a:ext uri="{FF2B5EF4-FFF2-40B4-BE49-F238E27FC236}">
                <a16:creationId xmlns:a16="http://schemas.microsoft.com/office/drawing/2014/main" id="{7179EAB0-53C8-A516-ED6B-63C9FBBDADAB}"/>
              </a:ext>
            </a:extLst>
          </p:cNvPr>
          <p:cNvSpPr>
            <a:spLocks noGrp="1"/>
          </p:cNvSpPr>
          <p:nvPr>
            <p:ph type="subTitle" idx="1"/>
          </p:nvPr>
        </p:nvSpPr>
        <p:spPr>
          <a:xfrm>
            <a:off x="1126348" y="5099566"/>
            <a:ext cx="6481746" cy="1199733"/>
          </a:xfrm>
        </p:spPr>
        <p:txBody>
          <a:bodyPr vert="horz" lIns="91440" tIns="45720" rIns="91440" bIns="45720" rtlCol="0" anchor="ctr">
            <a:normAutofit/>
          </a:bodyPr>
          <a:lstStyle/>
          <a:p>
            <a:pPr algn="l"/>
            <a:r>
              <a:rPr lang="en-US" sz="1300">
                <a:latin typeface="Arial" panose="020B0604020202020204" pitchFamily="34" charset="0"/>
                <a:cs typeface="Arial" panose="020B0604020202020204" pitchFamily="34" charset="0"/>
              </a:rPr>
              <a:t>Student Name: Hiralben Prajapati</a:t>
            </a:r>
          </a:p>
          <a:p>
            <a:pPr algn="l"/>
            <a:r>
              <a:rPr lang="en-US" sz="1300">
                <a:latin typeface="Arial" panose="020B0604020202020204" pitchFamily="34" charset="0"/>
                <a:cs typeface="Arial" panose="020B0604020202020204" pitchFamily="34" charset="0"/>
              </a:rPr>
              <a:t>Course Code: GED5004</a:t>
            </a:r>
          </a:p>
          <a:p>
            <a:pPr algn="l"/>
            <a:r>
              <a:rPr lang="en-US" sz="1300">
                <a:latin typeface="Arial" panose="020B0604020202020204" pitchFamily="34" charset="0"/>
                <a:cs typeface="Arial" panose="020B0604020202020204" pitchFamily="34" charset="0"/>
              </a:rPr>
              <a:t>Professor name: Tim Breton</a:t>
            </a:r>
          </a:p>
          <a:p>
            <a:pPr algn="l"/>
            <a:r>
              <a:rPr lang="en-US" sz="1300">
                <a:latin typeface="Arial" panose="020B0604020202020204" pitchFamily="34" charset="0"/>
                <a:cs typeface="Arial" panose="020B0604020202020204" pitchFamily="34" charset="0"/>
              </a:rPr>
              <a:t>Date: 15</a:t>
            </a:r>
            <a:r>
              <a:rPr lang="en-US" sz="1300" baseline="30000">
                <a:latin typeface="Arial" panose="020B0604020202020204" pitchFamily="34" charset="0"/>
                <a:cs typeface="Arial" panose="020B0604020202020204" pitchFamily="34" charset="0"/>
              </a:rPr>
              <a:t>th</a:t>
            </a:r>
            <a:r>
              <a:rPr lang="en-US" sz="1300">
                <a:latin typeface="Arial" panose="020B0604020202020204" pitchFamily="34" charset="0"/>
                <a:cs typeface="Arial" panose="020B0604020202020204" pitchFamily="34" charset="0"/>
              </a:rPr>
              <a:t> March 2026</a:t>
            </a:r>
          </a:p>
          <a:p>
            <a:pPr indent="-228600" algn="l">
              <a:buFont typeface="Arial" panose="020B0604020202020204" pitchFamily="34" charset="0"/>
              <a:buChar char="•"/>
            </a:pPr>
            <a:endParaRPr lang="en-US" sz="1300"/>
          </a:p>
        </p:txBody>
      </p:sp>
      <p:pic>
        <p:nvPicPr>
          <p:cNvPr id="7" name="Graphic 6" descr="House">
            <a:extLst>
              <a:ext uri="{FF2B5EF4-FFF2-40B4-BE49-F238E27FC236}">
                <a16:creationId xmlns:a16="http://schemas.microsoft.com/office/drawing/2014/main" id="{BE1406B1-8A59-F06A-C07F-6AC3C56144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5646" y="5061057"/>
            <a:ext cx="1199733" cy="1199733"/>
          </a:xfrm>
          <a:prstGeom prst="rect">
            <a:avLst/>
          </a:prstGeom>
        </p:spPr>
      </p:pic>
    </p:spTree>
    <p:extLst>
      <p:ext uri="{BB962C8B-B14F-4D97-AF65-F5344CB8AC3E}">
        <p14:creationId xmlns:p14="http://schemas.microsoft.com/office/powerpoint/2010/main" val="1942812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9AE9662-A286-AE58-2765-7C37CB4C5C85}"/>
              </a:ext>
            </a:extLst>
          </p:cNvPr>
          <p:cNvSpPr>
            <a:spLocks noGrp="1"/>
          </p:cNvSpPr>
          <p:nvPr>
            <p:ph type="title"/>
          </p:nvPr>
        </p:nvSpPr>
        <p:spPr>
          <a:xfrm>
            <a:off x="876691" y="301843"/>
            <a:ext cx="10477109" cy="1003532"/>
          </a:xfrm>
        </p:spPr>
        <p:txBody>
          <a:bodyPr anchor="ctr">
            <a:normAutofit/>
          </a:bodyPr>
          <a:lstStyle/>
          <a:p>
            <a:r>
              <a:rPr lang="en-CA" sz="3200">
                <a:solidFill>
                  <a:srgbClr val="FFFFFF"/>
                </a:solidFill>
                <a:latin typeface="Arial" panose="020B0604020202020204" pitchFamily="34" charset="0"/>
                <a:cs typeface="Arial" panose="020B0604020202020204" pitchFamily="34" charset="0"/>
              </a:rPr>
              <a:t>Agenda</a:t>
            </a:r>
          </a:p>
        </p:txBody>
      </p:sp>
      <p:sp>
        <p:nvSpPr>
          <p:cNvPr id="3" name="Content Placeholder 2">
            <a:extLst>
              <a:ext uri="{FF2B5EF4-FFF2-40B4-BE49-F238E27FC236}">
                <a16:creationId xmlns:a16="http://schemas.microsoft.com/office/drawing/2014/main" id="{3D0DFAC8-7EDE-863B-82A5-EA1EFC02C2AE}"/>
              </a:ext>
            </a:extLst>
          </p:cNvPr>
          <p:cNvSpPr>
            <a:spLocks noGrp="1"/>
          </p:cNvSpPr>
          <p:nvPr>
            <p:ph idx="1"/>
          </p:nvPr>
        </p:nvSpPr>
        <p:spPr>
          <a:xfrm>
            <a:off x="2241754" y="2308124"/>
            <a:ext cx="7720781" cy="3673576"/>
          </a:xfrm>
        </p:spPr>
        <p:txBody>
          <a:bodyPr>
            <a:normAutofit/>
          </a:bodyPr>
          <a:lstStyle/>
          <a:p>
            <a:r>
              <a:rPr lang="en-CA" sz="2000">
                <a:latin typeface="Arial" panose="020B0604020202020204" pitchFamily="34" charset="0"/>
                <a:cs typeface="Arial" panose="020B0604020202020204" pitchFamily="34" charset="0"/>
              </a:rPr>
              <a:t>The appliance’s brand, model, and price</a:t>
            </a:r>
          </a:p>
          <a:p>
            <a:r>
              <a:rPr lang="en-CA" sz="2000">
                <a:latin typeface="Arial" panose="020B0604020202020204" pitchFamily="34" charset="0"/>
                <a:cs typeface="Arial" panose="020B0604020202020204" pitchFamily="34" charset="0"/>
              </a:rPr>
              <a:t>Annual energy use and operating cost</a:t>
            </a:r>
          </a:p>
          <a:p>
            <a:r>
              <a:rPr lang="en-CA" sz="2000">
                <a:latin typeface="Arial" panose="020B0604020202020204" pitchFamily="34" charset="0"/>
                <a:cs typeface="Arial" panose="020B0604020202020204" pitchFamily="34" charset="0"/>
              </a:rPr>
              <a:t>The heating, cooling and ventilation system</a:t>
            </a:r>
          </a:p>
          <a:p>
            <a:r>
              <a:rPr lang="en-CA" sz="2000">
                <a:latin typeface="Arial" panose="020B0604020202020204" pitchFamily="34" charset="0"/>
                <a:cs typeface="Arial" panose="020B0604020202020204" pitchFamily="34" charset="0"/>
              </a:rPr>
              <a:t>Reasons for HVAC choices</a:t>
            </a:r>
          </a:p>
          <a:p>
            <a:r>
              <a:rPr lang="en-CA" sz="2000">
                <a:latin typeface="Arial" panose="020B0604020202020204" pitchFamily="34" charset="0"/>
                <a:cs typeface="Arial" panose="020B0604020202020204" pitchFamily="34" charset="0"/>
              </a:rPr>
              <a:t>Installation costs of HVAC equipment</a:t>
            </a:r>
          </a:p>
          <a:p>
            <a:r>
              <a:rPr lang="en-CA" sz="2000">
                <a:latin typeface="Arial" panose="020B0604020202020204" pitchFamily="34" charset="0"/>
                <a:cs typeface="Arial" panose="020B0604020202020204" pitchFamily="34" charset="0"/>
              </a:rPr>
              <a:t>Electricity and natural gas providers and their energy rates</a:t>
            </a:r>
          </a:p>
          <a:p>
            <a:r>
              <a:rPr lang="en-CA" sz="2000">
                <a:latin typeface="Arial" panose="020B0604020202020204" pitchFamily="34" charset="0"/>
                <a:cs typeface="Arial" panose="020B0604020202020204" pitchFamily="34" charset="0"/>
              </a:rPr>
              <a:t>Conclusion</a:t>
            </a:r>
          </a:p>
        </p:txBody>
      </p:sp>
    </p:spTree>
    <p:extLst>
      <p:ext uri="{BB962C8B-B14F-4D97-AF65-F5344CB8AC3E}">
        <p14:creationId xmlns:p14="http://schemas.microsoft.com/office/powerpoint/2010/main" val="93509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22AAB2F-68D4-EBB5-B4D8-83510A545914}"/>
              </a:ext>
            </a:extLst>
          </p:cNvPr>
          <p:cNvSpPr>
            <a:spLocks noGrp="1"/>
          </p:cNvSpPr>
          <p:nvPr>
            <p:ph type="title"/>
          </p:nvPr>
        </p:nvSpPr>
        <p:spPr>
          <a:xfrm>
            <a:off x="876691" y="301843"/>
            <a:ext cx="10477109" cy="1003532"/>
          </a:xfrm>
        </p:spPr>
        <p:txBody>
          <a:bodyPr anchor="ctr">
            <a:normAutofit/>
          </a:bodyPr>
          <a:lstStyle/>
          <a:p>
            <a:r>
              <a:rPr lang="en-CA" sz="3200" dirty="0">
                <a:solidFill>
                  <a:srgbClr val="FFFFFF"/>
                </a:solidFill>
                <a:latin typeface="Arial" panose="020B0604020202020204" pitchFamily="34" charset="0"/>
                <a:cs typeface="Arial" panose="020B0604020202020204" pitchFamily="34" charset="0"/>
              </a:rPr>
              <a:t>Part A:  Complete listing of all Appliances</a:t>
            </a:r>
          </a:p>
        </p:txBody>
      </p:sp>
      <p:sp>
        <p:nvSpPr>
          <p:cNvPr id="3" name="Content Placeholder 2">
            <a:extLst>
              <a:ext uri="{FF2B5EF4-FFF2-40B4-BE49-F238E27FC236}">
                <a16:creationId xmlns:a16="http://schemas.microsoft.com/office/drawing/2014/main" id="{966874BD-5243-B3C7-0620-4AE3AD9BC7A7}"/>
              </a:ext>
            </a:extLst>
          </p:cNvPr>
          <p:cNvSpPr>
            <a:spLocks noGrp="1"/>
          </p:cNvSpPr>
          <p:nvPr>
            <p:ph idx="1"/>
          </p:nvPr>
        </p:nvSpPr>
        <p:spPr>
          <a:xfrm>
            <a:off x="2241754" y="2308124"/>
            <a:ext cx="7720781" cy="3673576"/>
          </a:xfrm>
        </p:spPr>
        <p:txBody>
          <a:bodyPr>
            <a:normAutofit/>
          </a:bodyPr>
          <a:lstStyle/>
          <a:p>
            <a:r>
              <a:rPr lang="en-CA" sz="2000" dirty="0">
                <a:latin typeface="Arial" panose="020B0604020202020204" pitchFamily="34" charset="0"/>
                <a:cs typeface="Arial" panose="020B0604020202020204" pitchFamily="34" charset="0"/>
              </a:rPr>
              <a:t>Refrigerator</a:t>
            </a:r>
          </a:p>
          <a:p>
            <a:r>
              <a:rPr lang="en-CA" sz="2000" dirty="0">
                <a:latin typeface="Arial" panose="020B0604020202020204" pitchFamily="34" charset="0"/>
                <a:cs typeface="Arial" panose="020B0604020202020204" pitchFamily="34" charset="0"/>
              </a:rPr>
              <a:t>Electric Stove</a:t>
            </a:r>
          </a:p>
          <a:p>
            <a:r>
              <a:rPr lang="en-CA" sz="2000" dirty="0">
                <a:latin typeface="Arial" panose="020B0604020202020204" pitchFamily="34" charset="0"/>
                <a:cs typeface="Arial" panose="020B0604020202020204" pitchFamily="34" charset="0"/>
              </a:rPr>
              <a:t>Dishwasher</a:t>
            </a:r>
          </a:p>
          <a:p>
            <a:r>
              <a:rPr lang="en-CA" sz="2000" dirty="0">
                <a:latin typeface="Arial" panose="020B0604020202020204" pitchFamily="34" charset="0"/>
                <a:cs typeface="Arial" panose="020B0604020202020204" pitchFamily="34" charset="0"/>
              </a:rPr>
              <a:t>Washing Machine</a:t>
            </a:r>
          </a:p>
          <a:p>
            <a:r>
              <a:rPr lang="en-CA" sz="2000" dirty="0">
                <a:latin typeface="Arial" panose="020B0604020202020204" pitchFamily="34" charset="0"/>
                <a:cs typeface="Arial" panose="020B0604020202020204" pitchFamily="34" charset="0"/>
              </a:rPr>
              <a:t>Dryer</a:t>
            </a:r>
          </a:p>
        </p:txBody>
      </p:sp>
    </p:spTree>
    <p:extLst>
      <p:ext uri="{BB962C8B-B14F-4D97-AF65-F5344CB8AC3E}">
        <p14:creationId xmlns:p14="http://schemas.microsoft.com/office/powerpoint/2010/main" val="3468880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E3EAF23-5898-5EA6-35F0-C37F29CBE2CE}"/>
              </a:ext>
            </a:extLst>
          </p:cNvPr>
          <p:cNvSpPr>
            <a:spLocks noGrp="1"/>
          </p:cNvSpPr>
          <p:nvPr>
            <p:ph type="title"/>
          </p:nvPr>
        </p:nvSpPr>
        <p:spPr>
          <a:xfrm>
            <a:off x="755484" y="739835"/>
            <a:ext cx="3702580" cy="1616203"/>
          </a:xfrm>
        </p:spPr>
        <p:txBody>
          <a:bodyPr vert="horz" lIns="91440" tIns="45720" rIns="91440" bIns="45720" rtlCol="0" anchor="b">
            <a:normAutofit/>
          </a:bodyPr>
          <a:lstStyle/>
          <a:p>
            <a:pPr algn="ctr"/>
            <a:r>
              <a:rPr lang="en-US" b="1" kern="1200" dirty="0">
                <a:solidFill>
                  <a:srgbClr val="FFFFFF"/>
                </a:solidFill>
                <a:latin typeface="Arial" panose="020B0604020202020204" pitchFamily="34" charset="0"/>
                <a:cs typeface="Arial" panose="020B0604020202020204" pitchFamily="34" charset="0"/>
              </a:rPr>
              <a:t>Refrigerator</a:t>
            </a:r>
            <a:br>
              <a:rPr lang="en-US" b="1" kern="1200" dirty="0">
                <a:solidFill>
                  <a:srgbClr val="FFFFFF"/>
                </a:solidFill>
                <a:latin typeface="Arial" panose="020B0604020202020204" pitchFamily="34" charset="0"/>
                <a:cs typeface="Arial" panose="020B0604020202020204" pitchFamily="34" charset="0"/>
              </a:rPr>
            </a:br>
            <a:r>
              <a:rPr lang="en-US" dirty="0">
                <a:solidFill>
                  <a:schemeClr val="bg1"/>
                </a:solidFill>
              </a:rPr>
              <a:t> </a:t>
            </a:r>
            <a:r>
              <a:rPr lang="en-US" sz="1200" dirty="0">
                <a:solidFill>
                  <a:schemeClr val="bg1"/>
                </a:solidFill>
                <a:latin typeface="Arial" panose="020B0604020202020204" pitchFamily="34" charset="0"/>
                <a:cs typeface="Arial" panose="020B0604020202020204" pitchFamily="34" charset="0"/>
              </a:rPr>
              <a:t>Canadian Appliance source. (2024). </a:t>
            </a:r>
            <a:endParaRPr lang="en-US" sz="1200"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A1563910-46A8-3471-5F62-967D03F87BCE}"/>
              </a:ext>
            </a:extLst>
          </p:cNvPr>
          <p:cNvSpPr>
            <a:spLocks noGrp="1"/>
          </p:cNvSpPr>
          <p:nvPr>
            <p:ph type="body" sz="half" idx="2"/>
          </p:nvPr>
        </p:nvSpPr>
        <p:spPr>
          <a:xfrm>
            <a:off x="635432" y="2459116"/>
            <a:ext cx="4401518" cy="3524823"/>
          </a:xfrm>
        </p:spPr>
        <p:txBody>
          <a:bodyPr vert="horz" lIns="91440" tIns="45720" rIns="91440" bIns="45720" rtlCol="0">
            <a:normAutofit/>
          </a:bodyPr>
          <a:lstStyle/>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Brand: </a:t>
            </a:r>
            <a:r>
              <a:rPr lang="en-US" dirty="0">
                <a:solidFill>
                  <a:srgbClr val="FFFFFF"/>
                </a:solidFill>
                <a:latin typeface="Arial" panose="020B0604020202020204" pitchFamily="34" charset="0"/>
                <a:cs typeface="Arial" panose="020B0604020202020204" pitchFamily="34" charset="0"/>
              </a:rPr>
              <a:t>LG</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Model: </a:t>
            </a:r>
            <a:r>
              <a:rPr lang="en-US" dirty="0" err="1">
                <a:solidFill>
                  <a:srgbClr val="FFFFFF"/>
                </a:solidFill>
                <a:latin typeface="Arial" panose="020B0604020202020204" pitchFamily="34" charset="0"/>
                <a:cs typeface="Arial" panose="020B0604020202020204" pitchFamily="34" charset="0"/>
              </a:rPr>
              <a:t>LRFLC2706S</a:t>
            </a:r>
            <a:endParaRPr lang="en-US" dirty="0">
              <a:solidFill>
                <a:srgbClr val="FFFFFF"/>
              </a:solidFill>
              <a:latin typeface="Arial" panose="020B0604020202020204" pitchFamily="34" charset="0"/>
              <a:cs typeface="Arial" panose="020B0604020202020204" pitchFamily="34" charset="0"/>
            </a:endParaRP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Purchase Price: </a:t>
            </a:r>
            <a:r>
              <a:rPr lang="en-US" dirty="0">
                <a:solidFill>
                  <a:srgbClr val="FFFFFF"/>
                </a:solidFill>
                <a:latin typeface="Arial" panose="020B0604020202020204" pitchFamily="34" charset="0"/>
                <a:cs typeface="Arial" panose="020B0604020202020204" pitchFamily="34" charset="0"/>
              </a:rPr>
              <a:t>$1,995 </a:t>
            </a:r>
            <a:endParaRPr lang="en-US" b="1" dirty="0">
              <a:solidFill>
                <a:srgbClr val="FFFFFF"/>
              </a:solidFill>
              <a:latin typeface="Arial" panose="020B0604020202020204" pitchFamily="34" charset="0"/>
              <a:cs typeface="Arial" panose="020B0604020202020204" pitchFamily="34" charset="0"/>
            </a:endParaRP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Annual Energy Use:  </a:t>
            </a:r>
            <a:r>
              <a:rPr lang="en-US" dirty="0">
                <a:solidFill>
                  <a:srgbClr val="FFFFFF"/>
                </a:solidFill>
                <a:latin typeface="Arial" panose="020B0604020202020204" pitchFamily="34" charset="0"/>
                <a:cs typeface="Arial" panose="020B0604020202020204" pitchFamily="34" charset="0"/>
              </a:rPr>
              <a:t>632 kWh/year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Estimated yearly operating cost: </a:t>
            </a:r>
            <a:r>
              <a:rPr lang="en-US" dirty="0">
                <a:solidFill>
                  <a:srgbClr val="FFFFFF"/>
                </a:solidFill>
                <a:latin typeface="Arial" panose="020B0604020202020204" pitchFamily="34" charset="0"/>
                <a:cs typeface="Arial" panose="020B0604020202020204" pitchFamily="34" charset="0"/>
              </a:rPr>
              <a:t>$76/year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Reason: </a:t>
            </a:r>
          </a:p>
          <a:p>
            <a:pPr indent="-228600">
              <a:buFont typeface="Arial" panose="020B0604020202020204" pitchFamily="34" charset="0"/>
              <a:buChar char="•"/>
            </a:pPr>
            <a:r>
              <a:rPr lang="en-US" dirty="0">
                <a:solidFill>
                  <a:srgbClr val="FFFFFF"/>
                </a:solidFill>
                <a:latin typeface="Arial" panose="020B0604020202020204" pitchFamily="34" charset="0"/>
                <a:cs typeface="Arial" panose="020B0604020202020204" pitchFamily="34" charset="0"/>
              </a:rPr>
              <a:t>I chose this energy stat certified refrigerator because it uses less electricity compared to other models. It has a high efficiency rating, modern design, and good storage capacity.</a:t>
            </a:r>
          </a:p>
          <a:p>
            <a:endParaRPr lang="en-US" dirty="0">
              <a:solidFill>
                <a:srgbClr val="FFFFFF"/>
              </a:solidFill>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F71602E8-78B3-D320-C43A-7AFD346F8EF0}"/>
              </a:ext>
            </a:extLst>
          </p:cNvPr>
          <p:cNvPicPr>
            <a:picLocks noGrp="1" noChangeAspect="1"/>
          </p:cNvPicPr>
          <p:nvPr>
            <p:ph idx="1"/>
          </p:nvPr>
        </p:nvPicPr>
        <p:blipFill>
          <a:blip r:embed="rId2"/>
          <a:stretch>
            <a:fillRect/>
          </a:stretch>
        </p:blipFill>
        <p:spPr>
          <a:xfrm>
            <a:off x="6005304" y="901226"/>
            <a:ext cx="5407002" cy="5055546"/>
          </a:xfrm>
          <a:prstGeom prst="rect">
            <a:avLst/>
          </a:prstGeom>
        </p:spPr>
      </p:pic>
    </p:spTree>
    <p:extLst>
      <p:ext uri="{BB962C8B-B14F-4D97-AF65-F5344CB8AC3E}">
        <p14:creationId xmlns:p14="http://schemas.microsoft.com/office/powerpoint/2010/main" val="359498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30" name="Rectangle 29">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2" name="Rectangle 31">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87A08CB-E941-DD7F-4E55-CD64F0DB1F8E}"/>
              </a:ext>
            </a:extLst>
          </p:cNvPr>
          <p:cNvSpPr>
            <a:spLocks noGrp="1"/>
          </p:cNvSpPr>
          <p:nvPr>
            <p:ph type="title"/>
          </p:nvPr>
        </p:nvSpPr>
        <p:spPr>
          <a:xfrm>
            <a:off x="755484" y="739835"/>
            <a:ext cx="3702580" cy="1616203"/>
          </a:xfrm>
        </p:spPr>
        <p:txBody>
          <a:bodyPr vert="horz" lIns="91440" tIns="45720" rIns="91440" bIns="45720" rtlCol="0" anchor="b">
            <a:normAutofit/>
          </a:bodyPr>
          <a:lstStyle/>
          <a:p>
            <a:pPr algn="ctr"/>
            <a:r>
              <a:rPr lang="en-US" b="1" kern="1200" dirty="0">
                <a:solidFill>
                  <a:srgbClr val="FFFFFF"/>
                </a:solidFill>
                <a:latin typeface="Arial" panose="020B0604020202020204" pitchFamily="34" charset="0"/>
                <a:cs typeface="Arial" panose="020B0604020202020204" pitchFamily="34" charset="0"/>
              </a:rPr>
              <a:t>Electric Stove</a:t>
            </a:r>
            <a:br>
              <a:rPr lang="en-US" b="1" kern="1200" dirty="0">
                <a:solidFill>
                  <a:srgbClr val="FFFFFF"/>
                </a:solidFill>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Canadian Appliances source. (2024).</a:t>
            </a:r>
            <a:endParaRPr lang="en-US" sz="1300" b="1"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4F74B46D-79CA-98DA-A749-0347E4C6E8AD}"/>
              </a:ext>
            </a:extLst>
          </p:cNvPr>
          <p:cNvSpPr>
            <a:spLocks noGrp="1"/>
          </p:cNvSpPr>
          <p:nvPr>
            <p:ph type="body" sz="half" idx="2"/>
          </p:nvPr>
        </p:nvSpPr>
        <p:spPr>
          <a:xfrm>
            <a:off x="755484" y="2459116"/>
            <a:ext cx="4206260" cy="3524823"/>
          </a:xfrm>
        </p:spPr>
        <p:txBody>
          <a:bodyPr vert="horz" lIns="91440" tIns="45720" rIns="91440" bIns="45720" rtlCol="0">
            <a:normAutofit/>
          </a:bodyPr>
          <a:lstStyle/>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Brand: </a:t>
            </a:r>
            <a:r>
              <a:rPr lang="en-US" sz="1700" dirty="0">
                <a:solidFill>
                  <a:srgbClr val="FFFFFF"/>
                </a:solidFill>
                <a:latin typeface="Arial" panose="020B0604020202020204" pitchFamily="34" charset="0"/>
                <a:cs typeface="Arial" panose="020B0604020202020204" pitchFamily="34" charset="0"/>
              </a:rPr>
              <a:t>Samsung</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Model: </a:t>
            </a:r>
            <a:r>
              <a:rPr lang="en-US" sz="1700" dirty="0" err="1">
                <a:solidFill>
                  <a:srgbClr val="FFFFFF"/>
                </a:solidFill>
                <a:latin typeface="Arial" panose="020B0604020202020204" pitchFamily="34" charset="0"/>
                <a:cs typeface="Arial" panose="020B0604020202020204" pitchFamily="34" charset="0"/>
              </a:rPr>
              <a:t>NE63A6111SS</a:t>
            </a:r>
            <a:r>
              <a:rPr lang="en-US" sz="1700" b="1" dirty="0">
                <a:solidFill>
                  <a:srgbClr val="FFFFFF"/>
                </a:solidFill>
                <a:latin typeface="Arial" panose="020B0604020202020204" pitchFamily="34" charset="0"/>
                <a:cs typeface="Arial" panose="020B0604020202020204" pitchFamily="34" charset="0"/>
              </a:rPr>
              <a:t> </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Purchase Price: </a:t>
            </a:r>
            <a:r>
              <a:rPr lang="en-US" sz="1700" dirty="0">
                <a:solidFill>
                  <a:srgbClr val="FFFFFF"/>
                </a:solidFill>
                <a:latin typeface="Arial" panose="020B0604020202020204" pitchFamily="34" charset="0"/>
                <a:cs typeface="Arial" panose="020B0604020202020204" pitchFamily="34" charset="0"/>
              </a:rPr>
              <a:t>$995</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Annual energy use: </a:t>
            </a:r>
            <a:r>
              <a:rPr lang="en-US" sz="1700" dirty="0">
                <a:solidFill>
                  <a:srgbClr val="FFFFFF"/>
                </a:solidFill>
                <a:latin typeface="Arial" panose="020B0604020202020204" pitchFamily="34" charset="0"/>
                <a:cs typeface="Arial" panose="020B0604020202020204" pitchFamily="34" charset="0"/>
              </a:rPr>
              <a:t>350 kWh/year</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Estimated yearly operating cost: </a:t>
            </a:r>
            <a:r>
              <a:rPr lang="en-US" sz="1700" dirty="0">
                <a:solidFill>
                  <a:srgbClr val="FFFFFF"/>
                </a:solidFill>
                <a:latin typeface="Arial" panose="020B0604020202020204" pitchFamily="34" charset="0"/>
                <a:cs typeface="Arial" panose="020B0604020202020204" pitchFamily="34" charset="0"/>
              </a:rPr>
              <a:t>$42/ year</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sz="1700" dirty="0">
                <a:solidFill>
                  <a:srgbClr val="FFFFFF"/>
                </a:solidFill>
                <a:latin typeface="Arial" panose="020B0604020202020204" pitchFamily="34" charset="0"/>
                <a:cs typeface="Arial" panose="020B0604020202020204" pitchFamily="34" charset="0"/>
              </a:rPr>
              <a:t>This electric stove is energy efficient and has convection cooking, which reduces time and save electricity.</a:t>
            </a:r>
          </a:p>
        </p:txBody>
      </p:sp>
      <p:pic>
        <p:nvPicPr>
          <p:cNvPr id="24" name="Picture Placeholder 23">
            <a:extLst>
              <a:ext uri="{FF2B5EF4-FFF2-40B4-BE49-F238E27FC236}">
                <a16:creationId xmlns:a16="http://schemas.microsoft.com/office/drawing/2014/main" id="{03982C17-F0AF-C493-3A8C-153D8ED682DC}"/>
              </a:ext>
            </a:extLst>
          </p:cNvPr>
          <p:cNvPicPr>
            <a:picLocks noGrp="1" noChangeAspect="1"/>
          </p:cNvPicPr>
          <p:nvPr>
            <p:ph type="pic" idx="1"/>
          </p:nvPr>
        </p:nvPicPr>
        <p:blipFill>
          <a:blip r:embed="rId2"/>
          <a:srcRect t="20261" b="20261"/>
          <a:stretch>
            <a:fillRect/>
          </a:stretch>
        </p:blipFill>
        <p:spPr>
          <a:xfrm>
            <a:off x="6005304" y="1334125"/>
            <a:ext cx="5407002" cy="4229618"/>
          </a:xfrm>
          <a:prstGeom prst="rect">
            <a:avLst/>
          </a:prstGeom>
        </p:spPr>
      </p:pic>
    </p:spTree>
    <p:extLst>
      <p:ext uri="{BB962C8B-B14F-4D97-AF65-F5344CB8AC3E}">
        <p14:creationId xmlns:p14="http://schemas.microsoft.com/office/powerpoint/2010/main" val="3771532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EE69AF9-E0A4-D4AE-5B93-7CB45E171172}"/>
              </a:ext>
            </a:extLst>
          </p:cNvPr>
          <p:cNvSpPr>
            <a:spLocks noGrp="1"/>
          </p:cNvSpPr>
          <p:nvPr>
            <p:ph type="title"/>
          </p:nvPr>
        </p:nvSpPr>
        <p:spPr>
          <a:xfrm>
            <a:off x="755484" y="739835"/>
            <a:ext cx="3702580" cy="1616203"/>
          </a:xfrm>
        </p:spPr>
        <p:txBody>
          <a:bodyPr vert="horz" lIns="91440" tIns="45720" rIns="91440" bIns="45720" rtlCol="0" anchor="b">
            <a:normAutofit/>
          </a:bodyPr>
          <a:lstStyle/>
          <a:p>
            <a:pPr algn="ctr"/>
            <a:r>
              <a:rPr lang="en-US" b="1" kern="1200" dirty="0">
                <a:solidFill>
                  <a:srgbClr val="FFFFFF"/>
                </a:solidFill>
                <a:latin typeface="Arial" panose="020B0604020202020204" pitchFamily="34" charset="0"/>
                <a:cs typeface="Arial" panose="020B0604020202020204" pitchFamily="34" charset="0"/>
              </a:rPr>
              <a:t>Dishwasher</a:t>
            </a:r>
            <a:br>
              <a:rPr lang="en-US" b="1" kern="1200" dirty="0">
                <a:solidFill>
                  <a:srgbClr val="FFFFFF"/>
                </a:solidFill>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Canadian Appliances source. (2024).</a:t>
            </a:r>
            <a:endParaRPr lang="en-US" sz="1300" b="1"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F1290217-7049-C23A-DF0E-945E6087AAA7}"/>
              </a:ext>
            </a:extLst>
          </p:cNvPr>
          <p:cNvSpPr>
            <a:spLocks noGrp="1"/>
          </p:cNvSpPr>
          <p:nvPr>
            <p:ph type="body" sz="half" idx="2"/>
          </p:nvPr>
        </p:nvSpPr>
        <p:spPr>
          <a:xfrm>
            <a:off x="755484" y="2459116"/>
            <a:ext cx="4161290" cy="3524823"/>
          </a:xfrm>
        </p:spPr>
        <p:txBody>
          <a:bodyPr vert="horz" lIns="91440" tIns="45720" rIns="91440" bIns="45720" rtlCol="0">
            <a:normAutofit/>
          </a:bodyPr>
          <a:lstStyle/>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Brand: </a:t>
            </a:r>
            <a:r>
              <a:rPr lang="en-US" dirty="0">
                <a:solidFill>
                  <a:srgbClr val="FFFFFF"/>
                </a:solidFill>
                <a:latin typeface="Arial" panose="020B0604020202020204" pitchFamily="34" charset="0"/>
                <a:cs typeface="Arial" panose="020B0604020202020204" pitchFamily="34" charset="0"/>
              </a:rPr>
              <a:t>Bosch</a:t>
            </a:r>
          </a:p>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Model: </a:t>
            </a:r>
            <a:r>
              <a:rPr lang="en-US" dirty="0" err="1">
                <a:solidFill>
                  <a:srgbClr val="FFFFFF"/>
                </a:solidFill>
                <a:latin typeface="Arial" panose="020B0604020202020204" pitchFamily="34" charset="0"/>
                <a:cs typeface="Arial" panose="020B0604020202020204" pitchFamily="34" charset="0"/>
              </a:rPr>
              <a:t>SHP78CM5N</a:t>
            </a:r>
            <a:endParaRPr lang="en-US" dirty="0">
              <a:solidFill>
                <a:srgbClr val="FFFFFF"/>
              </a:solidFill>
              <a:latin typeface="Arial" panose="020B0604020202020204" pitchFamily="34" charset="0"/>
              <a:cs typeface="Arial" panose="020B0604020202020204" pitchFamily="34" charset="0"/>
            </a:endParaRPr>
          </a:p>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Purchase Price: </a:t>
            </a:r>
            <a:r>
              <a:rPr lang="en-US" dirty="0">
                <a:solidFill>
                  <a:srgbClr val="FFFFFF"/>
                </a:solidFill>
                <a:latin typeface="Arial" panose="020B0604020202020204" pitchFamily="34" charset="0"/>
                <a:cs typeface="Arial" panose="020B0604020202020204" pitchFamily="34" charset="0"/>
              </a:rPr>
              <a:t>$22,894</a:t>
            </a:r>
          </a:p>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Annual energy use:</a:t>
            </a:r>
            <a:r>
              <a:rPr lang="en-US" dirty="0">
                <a:solidFill>
                  <a:srgbClr val="FFFFFF"/>
                </a:solidFill>
                <a:latin typeface="Arial" panose="020B0604020202020204" pitchFamily="34" charset="0"/>
                <a:cs typeface="Arial" panose="020B0604020202020204" pitchFamily="34" charset="0"/>
              </a:rPr>
              <a:t> 240 kWh/year</a:t>
            </a:r>
          </a:p>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Estimated yearly operating cost: </a:t>
            </a:r>
            <a:r>
              <a:rPr lang="en-US" dirty="0">
                <a:solidFill>
                  <a:srgbClr val="FFFFFF"/>
                </a:solidFill>
                <a:latin typeface="Arial" panose="020B0604020202020204" pitchFamily="34" charset="0"/>
                <a:cs typeface="Arial" panose="020B0604020202020204" pitchFamily="34" charset="0"/>
              </a:rPr>
              <a:t>$28.80 per year</a:t>
            </a:r>
          </a:p>
          <a:p>
            <a:pPr marL="285750"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dirty="0">
                <a:solidFill>
                  <a:srgbClr val="FFFFFF"/>
                </a:solidFill>
                <a:latin typeface="Arial" panose="020B0604020202020204" pitchFamily="34" charset="0"/>
                <a:cs typeface="Arial" panose="020B0604020202020204" pitchFamily="34" charset="0"/>
              </a:rPr>
              <a:t>This dishwasher energy star certified and energy efficient with very quiet operating cost. It has large capacity with Wi-Fi connectivity for smart control.</a:t>
            </a:r>
          </a:p>
          <a:p>
            <a:pPr marL="285750" indent="-228600">
              <a:buFont typeface="Arial" panose="020B0604020202020204" pitchFamily="34" charset="0"/>
              <a:buChar char="•"/>
            </a:pPr>
            <a:endParaRPr lang="en-US" dirty="0">
              <a:solidFill>
                <a:srgbClr val="FFFFFF"/>
              </a:solidFill>
            </a:endParaRPr>
          </a:p>
        </p:txBody>
      </p:sp>
      <p:pic>
        <p:nvPicPr>
          <p:cNvPr id="6" name="Picture Placeholder 5">
            <a:extLst>
              <a:ext uri="{FF2B5EF4-FFF2-40B4-BE49-F238E27FC236}">
                <a16:creationId xmlns:a16="http://schemas.microsoft.com/office/drawing/2014/main" id="{2E1D6E38-1EE9-3621-0D70-E3FF52AE2463}"/>
              </a:ext>
            </a:extLst>
          </p:cNvPr>
          <p:cNvPicPr>
            <a:picLocks noGrp="1" noChangeAspect="1"/>
          </p:cNvPicPr>
          <p:nvPr>
            <p:ph type="pic" idx="1"/>
          </p:nvPr>
        </p:nvPicPr>
        <p:blipFill>
          <a:blip r:embed="rId2"/>
          <a:srcRect t="15081" b="15081"/>
          <a:stretch>
            <a:fillRect/>
          </a:stretch>
        </p:blipFill>
        <p:spPr>
          <a:xfrm>
            <a:off x="6005304" y="1295586"/>
            <a:ext cx="5407002" cy="4266826"/>
          </a:xfrm>
          <a:prstGeom prst="rect">
            <a:avLst/>
          </a:prstGeom>
        </p:spPr>
      </p:pic>
    </p:spTree>
    <p:extLst>
      <p:ext uri="{BB962C8B-B14F-4D97-AF65-F5344CB8AC3E}">
        <p14:creationId xmlns:p14="http://schemas.microsoft.com/office/powerpoint/2010/main" val="21376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28" name="Rectangle 27">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0" name="Rectangle 29">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4789942-19EA-5621-12AA-7871A213D567}"/>
              </a:ext>
            </a:extLst>
          </p:cNvPr>
          <p:cNvSpPr>
            <a:spLocks noGrp="1"/>
          </p:cNvSpPr>
          <p:nvPr>
            <p:ph type="title"/>
          </p:nvPr>
        </p:nvSpPr>
        <p:spPr>
          <a:xfrm>
            <a:off x="797972" y="591094"/>
            <a:ext cx="3702580" cy="1616203"/>
          </a:xfrm>
        </p:spPr>
        <p:txBody>
          <a:bodyPr vert="horz" lIns="91440" tIns="45720" rIns="91440" bIns="45720" rtlCol="0" anchor="b">
            <a:normAutofit/>
          </a:bodyPr>
          <a:lstStyle/>
          <a:p>
            <a:pPr algn="ctr"/>
            <a:r>
              <a:rPr lang="en-US" b="1" kern="1200" dirty="0">
                <a:solidFill>
                  <a:srgbClr val="FFFFFF"/>
                </a:solidFill>
                <a:latin typeface="Arial" panose="020B0604020202020204" pitchFamily="34" charset="0"/>
                <a:cs typeface="Arial" panose="020B0604020202020204" pitchFamily="34" charset="0"/>
              </a:rPr>
              <a:t>Washing Machine</a:t>
            </a:r>
            <a:br>
              <a:rPr lang="en-US" b="1" kern="1200" dirty="0">
                <a:solidFill>
                  <a:srgbClr val="FFFFFF"/>
                </a:solidFill>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Canadian Appliances source. (2024).</a:t>
            </a:r>
            <a:endParaRPr lang="en-US" sz="1300" b="1"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958FE59E-52ED-B377-EBDE-53AF837B236E}"/>
              </a:ext>
            </a:extLst>
          </p:cNvPr>
          <p:cNvSpPr>
            <a:spLocks noGrp="1"/>
          </p:cNvSpPr>
          <p:nvPr>
            <p:ph type="body" sz="half" idx="2"/>
          </p:nvPr>
        </p:nvSpPr>
        <p:spPr>
          <a:xfrm>
            <a:off x="755484" y="2459116"/>
            <a:ext cx="3702579" cy="3524823"/>
          </a:xfrm>
        </p:spPr>
        <p:txBody>
          <a:bodyPr vert="horz" lIns="91440" tIns="45720" rIns="91440" bIns="45720" rtlCol="0">
            <a:normAutofit/>
          </a:bodyPr>
          <a:lstStyle/>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Brand: </a:t>
            </a:r>
            <a:r>
              <a:rPr lang="en-US" dirty="0">
                <a:solidFill>
                  <a:srgbClr val="FFFFFF"/>
                </a:solidFill>
                <a:latin typeface="Arial" panose="020B0604020202020204" pitchFamily="34" charset="0"/>
                <a:cs typeface="Arial" panose="020B0604020202020204" pitchFamily="34" charset="0"/>
              </a:rPr>
              <a:t>Whirlpool</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Model: </a:t>
            </a:r>
            <a:r>
              <a:rPr lang="en-US" dirty="0" err="1">
                <a:solidFill>
                  <a:srgbClr val="FFFFFF"/>
                </a:solidFill>
                <a:latin typeface="Arial" panose="020B0604020202020204" pitchFamily="34" charset="0"/>
                <a:cs typeface="Arial" panose="020B0604020202020204" pitchFamily="34" charset="0"/>
              </a:rPr>
              <a:t>WFW5720RW</a:t>
            </a:r>
            <a:endParaRPr lang="en-US" dirty="0">
              <a:solidFill>
                <a:srgbClr val="FFFFFF"/>
              </a:solidFill>
              <a:latin typeface="Arial" panose="020B0604020202020204" pitchFamily="34" charset="0"/>
              <a:cs typeface="Arial" panose="020B0604020202020204" pitchFamily="34" charset="0"/>
            </a:endParaRP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Purchase Price: </a:t>
            </a:r>
            <a:r>
              <a:rPr lang="en-US" dirty="0">
                <a:solidFill>
                  <a:srgbClr val="FFFFFF"/>
                </a:solidFill>
                <a:latin typeface="Arial" panose="020B0604020202020204" pitchFamily="34" charset="0"/>
                <a:cs typeface="Arial" panose="020B0604020202020204" pitchFamily="34" charset="0"/>
              </a:rPr>
              <a:t>$1095</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Annual energy use: </a:t>
            </a:r>
            <a:r>
              <a:rPr lang="en-US" dirty="0">
                <a:solidFill>
                  <a:srgbClr val="FFFFFF"/>
                </a:solidFill>
                <a:latin typeface="Arial" panose="020B0604020202020204" pitchFamily="34" charset="0"/>
                <a:cs typeface="Arial" panose="020B0604020202020204" pitchFamily="34" charset="0"/>
              </a:rPr>
              <a:t>140 kWh/year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Estimated yearly operating cost: </a:t>
            </a:r>
            <a:r>
              <a:rPr lang="en-US" dirty="0">
                <a:solidFill>
                  <a:srgbClr val="FFFFFF"/>
                </a:solidFill>
                <a:latin typeface="Arial" panose="020B0604020202020204" pitchFamily="34" charset="0"/>
                <a:cs typeface="Arial" panose="020B0604020202020204" pitchFamily="34" charset="0"/>
              </a:rPr>
              <a:t>$17 per 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dirty="0">
                <a:solidFill>
                  <a:srgbClr val="FFFFFF"/>
                </a:solidFill>
                <a:latin typeface="Arial" panose="020B0604020202020204" pitchFamily="34" charset="0"/>
                <a:cs typeface="Arial" panose="020B0604020202020204" pitchFamily="34" charset="0"/>
              </a:rPr>
              <a:t>This washing machine is energy certified, which means it uses less electricity. Steam clean and high spin speed options, which reduces the energy use.</a:t>
            </a:r>
          </a:p>
        </p:txBody>
      </p:sp>
      <p:pic>
        <p:nvPicPr>
          <p:cNvPr id="13" name="Picture Placeholder 12">
            <a:extLst>
              <a:ext uri="{FF2B5EF4-FFF2-40B4-BE49-F238E27FC236}">
                <a16:creationId xmlns:a16="http://schemas.microsoft.com/office/drawing/2014/main" id="{13E21172-E001-488B-7B43-866AD7957148}"/>
              </a:ext>
            </a:extLst>
          </p:cNvPr>
          <p:cNvPicPr>
            <a:picLocks noGrp="1" noChangeAspect="1"/>
          </p:cNvPicPr>
          <p:nvPr>
            <p:ph type="pic" idx="1"/>
          </p:nvPr>
        </p:nvPicPr>
        <p:blipFill>
          <a:blip r:embed="rId2"/>
          <a:srcRect t="16832" b="16832"/>
          <a:stretch>
            <a:fillRect/>
          </a:stretch>
        </p:blipFill>
        <p:spPr>
          <a:xfrm>
            <a:off x="6005304" y="1294264"/>
            <a:ext cx="5407002" cy="4269471"/>
          </a:xfrm>
          <a:prstGeom prst="rect">
            <a:avLst/>
          </a:prstGeom>
        </p:spPr>
      </p:pic>
    </p:spTree>
    <p:extLst>
      <p:ext uri="{BB962C8B-B14F-4D97-AF65-F5344CB8AC3E}">
        <p14:creationId xmlns:p14="http://schemas.microsoft.com/office/powerpoint/2010/main" val="2519209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266E255-8901-9B04-A49C-D62AD289D30D}"/>
              </a:ext>
            </a:extLst>
          </p:cNvPr>
          <p:cNvSpPr>
            <a:spLocks noGrp="1"/>
          </p:cNvSpPr>
          <p:nvPr>
            <p:ph type="title"/>
          </p:nvPr>
        </p:nvSpPr>
        <p:spPr>
          <a:xfrm>
            <a:off x="755484" y="739835"/>
            <a:ext cx="3702580" cy="1616203"/>
          </a:xfrm>
        </p:spPr>
        <p:txBody>
          <a:bodyPr vert="horz" lIns="91440" tIns="45720" rIns="91440" bIns="45720" rtlCol="0" anchor="b">
            <a:normAutofit/>
          </a:bodyPr>
          <a:lstStyle/>
          <a:p>
            <a:pPr algn="ctr"/>
            <a:r>
              <a:rPr lang="en-US" b="1" kern="1200" dirty="0">
                <a:solidFill>
                  <a:srgbClr val="FFFFFF"/>
                </a:solidFill>
                <a:latin typeface="Arial" panose="020B0604020202020204" pitchFamily="34" charset="0"/>
                <a:cs typeface="Arial" panose="020B0604020202020204" pitchFamily="34" charset="0"/>
              </a:rPr>
              <a:t>Dryer</a:t>
            </a:r>
            <a:br>
              <a:rPr lang="en-US" b="1" kern="1200" dirty="0">
                <a:solidFill>
                  <a:srgbClr val="FFFFFF"/>
                </a:solidFill>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Canadian Appliance Source. (2024).</a:t>
            </a:r>
            <a:endParaRPr lang="en-US" sz="1300" b="1"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187F48F-EA06-DDF9-B942-E84E7770F769}"/>
              </a:ext>
            </a:extLst>
          </p:cNvPr>
          <p:cNvSpPr>
            <a:spLocks noGrp="1"/>
          </p:cNvSpPr>
          <p:nvPr>
            <p:ph type="body" sz="half" idx="2"/>
          </p:nvPr>
        </p:nvSpPr>
        <p:spPr>
          <a:xfrm>
            <a:off x="755484" y="2459116"/>
            <a:ext cx="3702579" cy="3524823"/>
          </a:xfrm>
        </p:spPr>
        <p:txBody>
          <a:bodyPr vert="horz" lIns="91440" tIns="45720" rIns="91440" bIns="45720" rtlCol="0">
            <a:normAutofit/>
          </a:bodyPr>
          <a:lstStyle/>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Brand: </a:t>
            </a:r>
            <a:r>
              <a:rPr lang="en-US" dirty="0">
                <a:solidFill>
                  <a:srgbClr val="FFFFFF"/>
                </a:solidFill>
                <a:latin typeface="Arial" panose="020B0604020202020204" pitchFamily="34" charset="0"/>
                <a:cs typeface="Arial" panose="020B0604020202020204" pitchFamily="34" charset="0"/>
              </a:rPr>
              <a:t>Whirlpool</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Model: </a:t>
            </a:r>
            <a:r>
              <a:rPr lang="en-US" dirty="0" err="1">
                <a:solidFill>
                  <a:srgbClr val="FFFFFF"/>
                </a:solidFill>
                <a:latin typeface="Arial" panose="020B0604020202020204" pitchFamily="34" charset="0"/>
                <a:cs typeface="Arial" panose="020B0604020202020204" pitchFamily="34" charset="0"/>
              </a:rPr>
              <a:t>YWED5720RW</a:t>
            </a:r>
            <a:endParaRPr lang="en-US" dirty="0">
              <a:solidFill>
                <a:srgbClr val="FFFFFF"/>
              </a:solidFill>
              <a:latin typeface="Arial" panose="020B0604020202020204" pitchFamily="34" charset="0"/>
              <a:cs typeface="Arial" panose="020B0604020202020204" pitchFamily="34" charset="0"/>
            </a:endParaRP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Purchase Price: </a:t>
            </a:r>
            <a:r>
              <a:rPr lang="en-US" dirty="0">
                <a:solidFill>
                  <a:srgbClr val="FFFFFF"/>
                </a:solidFill>
                <a:latin typeface="Arial" panose="020B0604020202020204" pitchFamily="34" charset="0"/>
                <a:cs typeface="Arial" panose="020B0604020202020204" pitchFamily="34" charset="0"/>
              </a:rPr>
              <a:t>$995</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Annual energy use: </a:t>
            </a:r>
            <a:r>
              <a:rPr lang="en-US" dirty="0">
                <a:solidFill>
                  <a:srgbClr val="FFFFFF"/>
                </a:solidFill>
                <a:latin typeface="Arial" panose="020B0604020202020204" pitchFamily="34" charset="0"/>
                <a:cs typeface="Arial" panose="020B0604020202020204" pitchFamily="34" charset="0"/>
              </a:rPr>
              <a:t>608 kWh/year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Estimated yearly operating cost: </a:t>
            </a:r>
            <a:r>
              <a:rPr lang="en-US" dirty="0">
                <a:solidFill>
                  <a:srgbClr val="FFFFFF"/>
                </a:solidFill>
                <a:latin typeface="Arial" panose="020B0604020202020204" pitchFamily="34" charset="0"/>
                <a:cs typeface="Arial" panose="020B0604020202020204" pitchFamily="34" charset="0"/>
              </a:rPr>
              <a:t>$73 per year</a:t>
            </a:r>
          </a:p>
          <a:p>
            <a:pPr indent="-228600">
              <a:buFont typeface="Arial" panose="020B0604020202020204" pitchFamily="34" charset="0"/>
              <a:buChar char="•"/>
            </a:pPr>
            <a:r>
              <a:rPr lang="en-US"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dirty="0">
                <a:solidFill>
                  <a:srgbClr val="FFFFFF"/>
                </a:solidFill>
                <a:latin typeface="Arial" panose="020B0604020202020204" pitchFamily="34" charset="0"/>
                <a:cs typeface="Arial" panose="020B0604020202020204" pitchFamily="34" charset="0"/>
              </a:rPr>
              <a:t>This dryer is energy star certified for energy efficiency. Smart Wi-Fi features allow remote monitoring. Reliable brand with good energy performance.</a:t>
            </a:r>
          </a:p>
        </p:txBody>
      </p:sp>
      <p:pic>
        <p:nvPicPr>
          <p:cNvPr id="6" name="Picture Placeholder 5">
            <a:extLst>
              <a:ext uri="{FF2B5EF4-FFF2-40B4-BE49-F238E27FC236}">
                <a16:creationId xmlns:a16="http://schemas.microsoft.com/office/drawing/2014/main" id="{ECC0D64A-E67A-9BF6-C074-156830EAA27A}"/>
              </a:ext>
            </a:extLst>
          </p:cNvPr>
          <p:cNvPicPr>
            <a:picLocks noGrp="1" noChangeAspect="1"/>
          </p:cNvPicPr>
          <p:nvPr>
            <p:ph type="pic" idx="1"/>
          </p:nvPr>
        </p:nvPicPr>
        <p:blipFill>
          <a:blip r:embed="rId2"/>
          <a:srcRect t="16411" b="16411"/>
          <a:stretch>
            <a:fillRect/>
          </a:stretch>
        </p:blipFill>
        <p:spPr>
          <a:xfrm>
            <a:off x="6005304" y="1294316"/>
            <a:ext cx="5407002" cy="4269367"/>
          </a:xfrm>
          <a:prstGeom prst="rect">
            <a:avLst/>
          </a:prstGeom>
        </p:spPr>
      </p:pic>
    </p:spTree>
    <p:extLst>
      <p:ext uri="{BB962C8B-B14F-4D97-AF65-F5344CB8AC3E}">
        <p14:creationId xmlns:p14="http://schemas.microsoft.com/office/powerpoint/2010/main" val="849768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C350B5-DEDB-33D1-7C1B-B6FB2E11A7F5}"/>
              </a:ext>
            </a:extLst>
          </p:cNvPr>
          <p:cNvSpPr>
            <a:spLocks noGrp="1"/>
          </p:cNvSpPr>
          <p:nvPr>
            <p:ph type="title"/>
          </p:nvPr>
        </p:nvSpPr>
        <p:spPr>
          <a:xfrm>
            <a:off x="1371597" y="348865"/>
            <a:ext cx="10044023" cy="877729"/>
          </a:xfrm>
        </p:spPr>
        <p:txBody>
          <a:bodyPr anchor="ctr">
            <a:normAutofit/>
          </a:bodyPr>
          <a:lstStyle/>
          <a:p>
            <a:r>
              <a:rPr lang="en-CA" sz="4000" dirty="0">
                <a:solidFill>
                  <a:srgbClr val="FFFFFF"/>
                </a:solidFill>
                <a:latin typeface="Arial" panose="020B0604020202020204" pitchFamily="34" charset="0"/>
                <a:cs typeface="Arial" panose="020B0604020202020204" pitchFamily="34" charset="0"/>
              </a:rPr>
              <a:t>Part B: Heating, Cooling </a:t>
            </a:r>
            <a:r>
              <a:rPr lang="en-CA" sz="4000" dirty="0" err="1">
                <a:solidFill>
                  <a:srgbClr val="FFFFFF"/>
                </a:solidFill>
                <a:latin typeface="Arial" panose="020B0604020202020204" pitchFamily="34" charset="0"/>
                <a:cs typeface="Arial" panose="020B0604020202020204" pitchFamily="34" charset="0"/>
              </a:rPr>
              <a:t>Equipments</a:t>
            </a:r>
            <a:endParaRPr lang="en-CA" sz="4000" dirty="0">
              <a:solidFill>
                <a:srgbClr val="FFFFFF"/>
              </a:solidFill>
              <a:latin typeface="Arial" panose="020B0604020202020204" pitchFamily="34" charset="0"/>
              <a:cs typeface="Arial" panose="020B0604020202020204" pitchFamily="34" charset="0"/>
            </a:endParaRPr>
          </a:p>
        </p:txBody>
      </p:sp>
      <p:graphicFrame>
        <p:nvGraphicFramePr>
          <p:cNvPr id="13" name="Content Placeholder 2">
            <a:extLst>
              <a:ext uri="{FF2B5EF4-FFF2-40B4-BE49-F238E27FC236}">
                <a16:creationId xmlns:a16="http://schemas.microsoft.com/office/drawing/2014/main" id="{3D0FED86-1CD8-10EA-7189-6332BD374BB3}"/>
              </a:ext>
            </a:extLst>
          </p:cNvPr>
          <p:cNvGraphicFramePr>
            <a:graphicFrameLocks noGrp="1"/>
          </p:cNvGraphicFramePr>
          <p:nvPr>
            <p:ph idx="1"/>
            <p:extLst>
              <p:ext uri="{D42A27DB-BD31-4B8C-83A1-F6EECF244321}">
                <p14:modId xmlns:p14="http://schemas.microsoft.com/office/powerpoint/2010/main" val="129541866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2319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ACA4329-4679-8CD3-31AC-85DC0B91FCBD}"/>
              </a:ext>
            </a:extLst>
          </p:cNvPr>
          <p:cNvSpPr>
            <a:spLocks noGrp="1"/>
          </p:cNvSpPr>
          <p:nvPr>
            <p:ph type="title"/>
          </p:nvPr>
        </p:nvSpPr>
        <p:spPr>
          <a:xfrm>
            <a:off x="755484" y="739835"/>
            <a:ext cx="3702580" cy="1616203"/>
          </a:xfrm>
        </p:spPr>
        <p:txBody>
          <a:bodyPr vert="horz" lIns="91440" tIns="45720" rIns="91440" bIns="45720" rtlCol="0" anchor="b">
            <a:normAutofit/>
          </a:bodyPr>
          <a:lstStyle/>
          <a:p>
            <a:r>
              <a:rPr lang="en-US" kern="1200" dirty="0">
                <a:solidFill>
                  <a:srgbClr val="FFFFFF"/>
                </a:solidFill>
                <a:latin typeface="Arial" panose="020B0604020202020204" pitchFamily="34" charset="0"/>
                <a:cs typeface="Arial" panose="020B0604020202020204" pitchFamily="34" charset="0"/>
              </a:rPr>
              <a:t>Water Heater</a:t>
            </a:r>
            <a:br>
              <a:rPr lang="en-US" kern="1200" dirty="0">
                <a:solidFill>
                  <a:srgbClr val="FFFFFF"/>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HVAC fixed. (2024).</a:t>
            </a:r>
            <a:endParaRPr lang="en-US" sz="1200"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24A7CB9F-73CF-FC13-8639-3F92772BF710}"/>
              </a:ext>
            </a:extLst>
          </p:cNvPr>
          <p:cNvSpPr>
            <a:spLocks noGrp="1"/>
          </p:cNvSpPr>
          <p:nvPr>
            <p:ph type="body" sz="half" idx="2"/>
          </p:nvPr>
        </p:nvSpPr>
        <p:spPr>
          <a:xfrm>
            <a:off x="755484" y="2459116"/>
            <a:ext cx="3702579" cy="3524823"/>
          </a:xfrm>
        </p:spPr>
        <p:txBody>
          <a:bodyPr vert="horz" lIns="91440" tIns="45720" rIns="91440" bIns="45720" rtlCol="0">
            <a:normAutofit lnSpcReduction="10000"/>
          </a:bodyPr>
          <a:lstStyle/>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Brand:  </a:t>
            </a:r>
            <a:r>
              <a:rPr lang="en-US" sz="1700" dirty="0">
                <a:solidFill>
                  <a:srgbClr val="FFFFFF"/>
                </a:solidFill>
                <a:latin typeface="Arial" panose="020B0604020202020204" pitchFamily="34" charset="0"/>
                <a:cs typeface="Arial" panose="020B0604020202020204" pitchFamily="34" charset="0"/>
              </a:rPr>
              <a:t>John Wood</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Model: </a:t>
            </a:r>
            <a:r>
              <a:rPr lang="en-US" sz="1700" dirty="0" err="1">
                <a:solidFill>
                  <a:srgbClr val="FFFFFF"/>
                </a:solidFill>
                <a:latin typeface="Arial" panose="020B0604020202020204" pitchFamily="34" charset="0"/>
                <a:cs typeface="Arial" panose="020B0604020202020204" pitchFamily="34" charset="0"/>
              </a:rPr>
              <a:t>PV50N</a:t>
            </a:r>
            <a:r>
              <a:rPr lang="en-US" sz="1700" dirty="0">
                <a:solidFill>
                  <a:srgbClr val="FFFFFF"/>
                </a:solidFill>
                <a:latin typeface="Arial" panose="020B0604020202020204" pitchFamily="34" charset="0"/>
                <a:cs typeface="Arial" panose="020B0604020202020204" pitchFamily="34" charset="0"/>
              </a:rPr>
              <a:t>-40 Power Vent Tank Water Heater</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Purchase Price: </a:t>
            </a:r>
            <a:r>
              <a:rPr lang="en-US" sz="1700" dirty="0">
                <a:solidFill>
                  <a:srgbClr val="FFFFFF"/>
                </a:solidFill>
                <a:latin typeface="Arial" panose="020B0604020202020204" pitchFamily="34" charset="0"/>
                <a:cs typeface="Arial" panose="020B0604020202020204" pitchFamily="34" charset="0"/>
              </a:rPr>
              <a:t>$2,999</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sz="1700" dirty="0">
                <a:solidFill>
                  <a:srgbClr val="FFFFFF"/>
                </a:solidFill>
                <a:latin typeface="Arial" panose="020B0604020202020204" pitchFamily="34" charset="0"/>
                <a:cs typeface="Arial" panose="020B0604020202020204" pitchFamily="34" charset="0"/>
              </a:rPr>
              <a:t>Power vent system improves energy efficiency. This water heater has 50-gallon tank capacity, which provides enough hot water for a family. Reliable Canadian brand commonly used in homes. Also, installation included in purchase price.</a:t>
            </a:r>
          </a:p>
        </p:txBody>
      </p:sp>
      <p:pic>
        <p:nvPicPr>
          <p:cNvPr id="6" name="Picture Placeholder 5">
            <a:extLst>
              <a:ext uri="{FF2B5EF4-FFF2-40B4-BE49-F238E27FC236}">
                <a16:creationId xmlns:a16="http://schemas.microsoft.com/office/drawing/2014/main" id="{82FEB1B4-79C4-0936-7A23-8FA7AECBD307}"/>
              </a:ext>
            </a:extLst>
          </p:cNvPr>
          <p:cNvPicPr>
            <a:picLocks noGrp="1" noChangeAspect="1"/>
          </p:cNvPicPr>
          <p:nvPr>
            <p:ph type="pic" idx="1"/>
          </p:nvPr>
        </p:nvPicPr>
        <p:blipFill>
          <a:blip r:embed="rId2"/>
          <a:srcRect t="10342" b="10342"/>
          <a:stretch>
            <a:fillRect/>
          </a:stretch>
        </p:blipFill>
        <p:spPr>
          <a:xfrm>
            <a:off x="6005304" y="1294284"/>
            <a:ext cx="5407002" cy="4269430"/>
          </a:xfrm>
          <a:prstGeom prst="rect">
            <a:avLst/>
          </a:prstGeom>
        </p:spPr>
      </p:pic>
    </p:spTree>
    <p:extLst>
      <p:ext uri="{BB962C8B-B14F-4D97-AF65-F5344CB8AC3E}">
        <p14:creationId xmlns:p14="http://schemas.microsoft.com/office/powerpoint/2010/main" val="513509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1600C0A-4A5B-291E-84D6-19B35597B826}"/>
              </a:ext>
            </a:extLst>
          </p:cNvPr>
          <p:cNvSpPr>
            <a:spLocks noGrp="1"/>
          </p:cNvSpPr>
          <p:nvPr>
            <p:ph type="title"/>
          </p:nvPr>
        </p:nvSpPr>
        <p:spPr>
          <a:xfrm>
            <a:off x="755484" y="739835"/>
            <a:ext cx="3702580" cy="1616203"/>
          </a:xfrm>
        </p:spPr>
        <p:txBody>
          <a:bodyPr vert="horz" lIns="91440" tIns="45720" rIns="91440" bIns="45720" rtlCol="0" anchor="b">
            <a:normAutofit/>
          </a:bodyPr>
          <a:lstStyle/>
          <a:p>
            <a:pPr>
              <a:spcAft>
                <a:spcPts val="600"/>
              </a:spcAft>
            </a:pPr>
            <a:r>
              <a:rPr lang="en-US" kern="1200" dirty="0">
                <a:solidFill>
                  <a:srgbClr val="FFFFFF"/>
                </a:solidFill>
                <a:latin typeface="Arial" panose="020B0604020202020204" pitchFamily="34" charset="0"/>
                <a:cs typeface="Arial" panose="020B0604020202020204" pitchFamily="34" charset="0"/>
              </a:rPr>
              <a:t>Heat Recovery Ventilator(HRV)</a:t>
            </a:r>
            <a:br>
              <a:rPr lang="en-US" dirty="0">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Master Builder Mercantile. (2024). </a:t>
            </a:r>
            <a:endParaRPr lang="en-US" sz="1300"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C1E8E82F-28C2-E620-8128-1075D79ACE0D}"/>
              </a:ext>
            </a:extLst>
          </p:cNvPr>
          <p:cNvSpPr>
            <a:spLocks noGrp="1"/>
          </p:cNvSpPr>
          <p:nvPr>
            <p:ph type="body" sz="half" idx="2"/>
          </p:nvPr>
        </p:nvSpPr>
        <p:spPr>
          <a:xfrm>
            <a:off x="755484" y="2459116"/>
            <a:ext cx="3702579" cy="3524823"/>
          </a:xfrm>
        </p:spPr>
        <p:txBody>
          <a:bodyPr vert="horz" lIns="91440" tIns="45720" rIns="91440" bIns="45720" rtlCol="0">
            <a:normAutofit/>
          </a:bodyPr>
          <a:lstStyle/>
          <a:p>
            <a:pPr marL="285750" indent="-228600">
              <a:buFont typeface="Arial" panose="020B0604020202020204" pitchFamily="34" charset="0"/>
              <a:buChar char="•"/>
            </a:pPr>
            <a:r>
              <a:rPr lang="en-US" sz="2000" b="1" dirty="0">
                <a:solidFill>
                  <a:srgbClr val="FFFFFF"/>
                </a:solidFill>
                <a:latin typeface="Arial" panose="020B0604020202020204" pitchFamily="34" charset="0"/>
                <a:cs typeface="Arial" panose="020B0604020202020204" pitchFamily="34" charset="0"/>
              </a:rPr>
              <a:t>Brand: </a:t>
            </a:r>
            <a:r>
              <a:rPr lang="en-US" sz="2000" dirty="0" err="1">
                <a:solidFill>
                  <a:srgbClr val="FFFFFF"/>
                </a:solidFill>
                <a:latin typeface="Arial" panose="020B0604020202020204" pitchFamily="34" charset="0"/>
                <a:cs typeface="Arial" panose="020B0604020202020204" pitchFamily="34" charset="0"/>
              </a:rPr>
              <a:t>Lifebreath</a:t>
            </a:r>
            <a:endParaRPr lang="en-US" sz="2000" dirty="0">
              <a:solidFill>
                <a:srgbClr val="FFFFFF"/>
              </a:solidFill>
              <a:latin typeface="Arial" panose="020B0604020202020204" pitchFamily="34" charset="0"/>
              <a:cs typeface="Arial" panose="020B0604020202020204" pitchFamily="34" charset="0"/>
            </a:endParaRPr>
          </a:p>
          <a:p>
            <a:pPr marL="285750" indent="-228600">
              <a:buFont typeface="Arial" panose="020B0604020202020204" pitchFamily="34" charset="0"/>
              <a:buChar char="•"/>
            </a:pPr>
            <a:r>
              <a:rPr lang="en-US" sz="2000" b="1" dirty="0">
                <a:solidFill>
                  <a:srgbClr val="FFFFFF"/>
                </a:solidFill>
                <a:latin typeface="Arial" panose="020B0604020202020204" pitchFamily="34" charset="0"/>
                <a:cs typeface="Arial" panose="020B0604020202020204" pitchFamily="34" charset="0"/>
              </a:rPr>
              <a:t>Model: </a:t>
            </a:r>
            <a:r>
              <a:rPr lang="en-US" sz="2000" dirty="0">
                <a:solidFill>
                  <a:srgbClr val="FFFFFF"/>
                </a:solidFill>
                <a:latin typeface="Arial" panose="020B0604020202020204" pitchFamily="34" charset="0"/>
                <a:cs typeface="Arial" panose="020B0604020202020204" pitchFamily="34" charset="0"/>
              </a:rPr>
              <a:t>155 Max </a:t>
            </a:r>
          </a:p>
          <a:p>
            <a:pPr marL="285750" indent="-228600">
              <a:buFont typeface="Arial" panose="020B0604020202020204" pitchFamily="34" charset="0"/>
              <a:buChar char="•"/>
            </a:pPr>
            <a:r>
              <a:rPr lang="en-US" sz="2000" b="1" dirty="0">
                <a:solidFill>
                  <a:srgbClr val="FFFFFF"/>
                </a:solidFill>
                <a:latin typeface="Arial" panose="020B0604020202020204" pitchFamily="34" charset="0"/>
                <a:cs typeface="Arial" panose="020B0604020202020204" pitchFamily="34" charset="0"/>
              </a:rPr>
              <a:t>Purchase price:</a:t>
            </a:r>
            <a:r>
              <a:rPr lang="en-US" sz="2000" dirty="0">
                <a:solidFill>
                  <a:srgbClr val="FFFFFF"/>
                </a:solidFill>
                <a:latin typeface="Arial" panose="020B0604020202020204" pitchFamily="34" charset="0"/>
                <a:cs typeface="Arial" panose="020B0604020202020204" pitchFamily="34" charset="0"/>
              </a:rPr>
              <a:t> $3,295</a:t>
            </a:r>
          </a:p>
          <a:p>
            <a:pPr marL="285750" indent="-228600">
              <a:buFont typeface="Arial" panose="020B0604020202020204" pitchFamily="34" charset="0"/>
              <a:buChar char="•"/>
            </a:pPr>
            <a:r>
              <a:rPr lang="en-US" sz="2000"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sz="2000" dirty="0">
                <a:solidFill>
                  <a:srgbClr val="FFFFFF"/>
                </a:solidFill>
                <a:latin typeface="Arial" panose="020B0604020202020204" pitchFamily="34" charset="0"/>
                <a:cs typeface="Arial" panose="020B0604020202020204" pitchFamily="34" charset="0"/>
              </a:rPr>
              <a:t>This product provides high efficiency hex core. Energy stat certified heat recovery ventilator. A HRV improves indoor air quality while reducing heating loss.</a:t>
            </a:r>
          </a:p>
          <a:p>
            <a:pPr indent="-228600">
              <a:buFont typeface="Arial" panose="020B0604020202020204" pitchFamily="34" charset="0"/>
              <a:buChar char="•"/>
            </a:pPr>
            <a:endParaRPr lang="en-US" sz="2000" dirty="0">
              <a:solidFill>
                <a:srgbClr val="FFFFFF"/>
              </a:solidFill>
            </a:endParaRPr>
          </a:p>
        </p:txBody>
      </p:sp>
      <p:pic>
        <p:nvPicPr>
          <p:cNvPr id="6" name="Picture 5">
            <a:extLst>
              <a:ext uri="{FF2B5EF4-FFF2-40B4-BE49-F238E27FC236}">
                <a16:creationId xmlns:a16="http://schemas.microsoft.com/office/drawing/2014/main" id="{95BAD310-72B2-D84A-94EA-AC20AED23C3C}"/>
              </a:ext>
            </a:extLst>
          </p:cNvPr>
          <p:cNvPicPr>
            <a:picLocks noChangeAspect="1"/>
          </p:cNvPicPr>
          <p:nvPr/>
        </p:nvPicPr>
        <p:blipFill>
          <a:blip r:embed="rId2"/>
          <a:stretch>
            <a:fillRect/>
          </a:stretch>
        </p:blipFill>
        <p:spPr>
          <a:xfrm>
            <a:off x="6005304" y="1692000"/>
            <a:ext cx="5407002" cy="3473999"/>
          </a:xfrm>
          <a:prstGeom prst="rect">
            <a:avLst/>
          </a:prstGeom>
        </p:spPr>
      </p:pic>
    </p:spTree>
    <p:extLst>
      <p:ext uri="{BB962C8B-B14F-4D97-AF65-F5344CB8AC3E}">
        <p14:creationId xmlns:p14="http://schemas.microsoft.com/office/powerpoint/2010/main" val="1867028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2" name="Rectangle 11">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0AD7C8F-1B27-7514-6D9B-4CD61BDE739C}"/>
              </a:ext>
            </a:extLst>
          </p:cNvPr>
          <p:cNvSpPr>
            <a:spLocks noGrp="1"/>
          </p:cNvSpPr>
          <p:nvPr>
            <p:ph type="title"/>
          </p:nvPr>
        </p:nvSpPr>
        <p:spPr>
          <a:xfrm>
            <a:off x="755484" y="739835"/>
            <a:ext cx="3702580" cy="1616203"/>
          </a:xfrm>
        </p:spPr>
        <p:txBody>
          <a:bodyPr vert="horz" lIns="91440" tIns="45720" rIns="91440" bIns="45720" rtlCol="0" anchor="b">
            <a:normAutofit/>
          </a:bodyPr>
          <a:lstStyle/>
          <a:p>
            <a:r>
              <a:rPr lang="en-US" kern="1200" dirty="0">
                <a:solidFill>
                  <a:srgbClr val="FFFFFF"/>
                </a:solidFill>
                <a:latin typeface="Arial" panose="020B0604020202020204" pitchFamily="34" charset="0"/>
                <a:cs typeface="Arial" panose="020B0604020202020204" pitchFamily="34" charset="0"/>
              </a:rPr>
              <a:t>Heating and cooling system</a:t>
            </a:r>
            <a:br>
              <a:rPr lang="en-US" kern="1200" dirty="0">
                <a:solidFill>
                  <a:srgbClr val="FFFFFF"/>
                </a:solidFill>
                <a:latin typeface="Arial" panose="020B0604020202020204" pitchFamily="34" charset="0"/>
                <a:cs typeface="Arial" panose="020B0604020202020204" pitchFamily="34" charset="0"/>
              </a:rPr>
            </a:br>
            <a:r>
              <a:rPr lang="en-US" sz="1300" dirty="0">
                <a:solidFill>
                  <a:schemeClr val="bg1"/>
                </a:solidFill>
                <a:latin typeface="Arial" panose="020B0604020202020204" pitchFamily="34" charset="0"/>
                <a:cs typeface="Arial" panose="020B0604020202020204" pitchFamily="34" charset="0"/>
              </a:rPr>
              <a:t>HVAC Fixed. (2024).</a:t>
            </a:r>
            <a:endParaRPr lang="en-US" sz="1300" kern="1200" dirty="0">
              <a:solidFill>
                <a:schemeClr val="bg1"/>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4A919AD6-A3F6-4FBE-3D9D-8893E0AF7645}"/>
              </a:ext>
            </a:extLst>
          </p:cNvPr>
          <p:cNvSpPr>
            <a:spLocks noGrp="1"/>
          </p:cNvSpPr>
          <p:nvPr>
            <p:ph type="body" sz="half" idx="2"/>
          </p:nvPr>
        </p:nvSpPr>
        <p:spPr>
          <a:xfrm>
            <a:off x="755484" y="2459116"/>
            <a:ext cx="3702579" cy="3524823"/>
          </a:xfrm>
        </p:spPr>
        <p:txBody>
          <a:bodyPr vert="horz" lIns="91440" tIns="45720" rIns="91440" bIns="45720" rtlCol="0">
            <a:normAutofit/>
          </a:bodyPr>
          <a:lstStyle/>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Brand: Bosch</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Model: </a:t>
            </a:r>
            <a:r>
              <a:rPr lang="en-US" sz="1700" b="1" dirty="0" err="1">
                <a:solidFill>
                  <a:srgbClr val="FFFFFF"/>
                </a:solidFill>
                <a:latin typeface="Arial" panose="020B0604020202020204" pitchFamily="34" charset="0"/>
                <a:cs typeface="Arial" panose="020B0604020202020204" pitchFamily="34" charset="0"/>
              </a:rPr>
              <a:t>BOVA36</a:t>
            </a:r>
            <a:endParaRPr lang="en-US" sz="1700" b="1" dirty="0">
              <a:solidFill>
                <a:srgbClr val="FFFFFF"/>
              </a:solidFill>
              <a:latin typeface="Arial" panose="020B0604020202020204" pitchFamily="34" charset="0"/>
              <a:cs typeface="Arial" panose="020B0604020202020204" pitchFamily="34" charset="0"/>
            </a:endParaRP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Purchase Price: $6,699</a:t>
            </a:r>
          </a:p>
          <a:p>
            <a:pPr indent="-228600">
              <a:buFont typeface="Arial" panose="020B0604020202020204" pitchFamily="34" charset="0"/>
              <a:buChar char="•"/>
            </a:pPr>
            <a:r>
              <a:rPr lang="en-US" sz="1700" b="1" dirty="0">
                <a:solidFill>
                  <a:srgbClr val="FFFFFF"/>
                </a:solidFill>
                <a:latin typeface="Arial" panose="020B0604020202020204" pitchFamily="34" charset="0"/>
                <a:cs typeface="Arial" panose="020B0604020202020204" pitchFamily="34" charset="0"/>
              </a:rPr>
              <a:t>Reason:</a:t>
            </a:r>
          </a:p>
          <a:p>
            <a:pPr indent="-228600">
              <a:buFont typeface="Arial" panose="020B0604020202020204" pitchFamily="34" charset="0"/>
              <a:buChar char="•"/>
            </a:pPr>
            <a:r>
              <a:rPr lang="en-US" sz="1700" dirty="0">
                <a:solidFill>
                  <a:srgbClr val="FFFFFF"/>
                </a:solidFill>
                <a:latin typeface="Arial" panose="020B0604020202020204" pitchFamily="34" charset="0"/>
                <a:cs typeface="Arial" panose="020B0604020202020204" pitchFamily="34" charset="0"/>
              </a:rPr>
              <a:t>A heat pump is environmentally friendly because it transfers heat instead of generating it. It reduces greenhouse gas emissions and lower energy usage. Energy star certified, which saves the annual energy use with 3-ton cooling capacity.</a:t>
            </a:r>
          </a:p>
        </p:txBody>
      </p:sp>
      <p:pic>
        <p:nvPicPr>
          <p:cNvPr id="6" name="Picture Placeholder 5">
            <a:extLst>
              <a:ext uri="{FF2B5EF4-FFF2-40B4-BE49-F238E27FC236}">
                <a16:creationId xmlns:a16="http://schemas.microsoft.com/office/drawing/2014/main" id="{45315310-C47B-D384-BAE3-EC9A37D129AA}"/>
              </a:ext>
            </a:extLst>
          </p:cNvPr>
          <p:cNvPicPr>
            <a:picLocks noGrp="1" noChangeAspect="1"/>
          </p:cNvPicPr>
          <p:nvPr>
            <p:ph type="pic" idx="1"/>
          </p:nvPr>
        </p:nvPicPr>
        <p:blipFill>
          <a:blip r:embed="rId2"/>
          <a:srcRect t="9505" b="9505"/>
          <a:stretch>
            <a:fillRect/>
          </a:stretch>
        </p:blipFill>
        <p:spPr>
          <a:xfrm>
            <a:off x="6005304" y="1294298"/>
            <a:ext cx="5407002" cy="4269402"/>
          </a:xfrm>
          <a:prstGeom prst="rect">
            <a:avLst/>
          </a:prstGeom>
        </p:spPr>
      </p:pic>
    </p:spTree>
    <p:extLst>
      <p:ext uri="{BB962C8B-B14F-4D97-AF65-F5344CB8AC3E}">
        <p14:creationId xmlns:p14="http://schemas.microsoft.com/office/powerpoint/2010/main" val="368288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91235A-235A-87B3-5765-DEC80E332F11}"/>
              </a:ext>
            </a:extLst>
          </p:cNvPr>
          <p:cNvSpPr>
            <a:spLocks noGrp="1"/>
          </p:cNvSpPr>
          <p:nvPr>
            <p:ph type="title"/>
          </p:nvPr>
        </p:nvSpPr>
        <p:spPr>
          <a:xfrm>
            <a:off x="1371597" y="348865"/>
            <a:ext cx="10044023" cy="877729"/>
          </a:xfrm>
        </p:spPr>
        <p:txBody>
          <a:bodyPr anchor="ctr">
            <a:normAutofit/>
          </a:bodyPr>
          <a:lstStyle/>
          <a:p>
            <a:r>
              <a:rPr lang="en-CA" sz="4000" dirty="0">
                <a:solidFill>
                  <a:srgbClr val="FFFFFF"/>
                </a:solidFill>
                <a:latin typeface="Arial" panose="020B0604020202020204" pitchFamily="34" charset="0"/>
                <a:cs typeface="Arial" panose="020B0604020202020204" pitchFamily="34" charset="0"/>
              </a:rPr>
              <a:t>Part C: Energy Use</a:t>
            </a:r>
          </a:p>
        </p:txBody>
      </p:sp>
      <p:graphicFrame>
        <p:nvGraphicFramePr>
          <p:cNvPr id="5" name="Content Placeholder 2">
            <a:extLst>
              <a:ext uri="{FF2B5EF4-FFF2-40B4-BE49-F238E27FC236}">
                <a16:creationId xmlns:a16="http://schemas.microsoft.com/office/drawing/2014/main" id="{14CC7F14-7113-D127-0984-C0CA292A7D10}"/>
              </a:ext>
            </a:extLst>
          </p:cNvPr>
          <p:cNvGraphicFramePr>
            <a:graphicFrameLocks noGrp="1"/>
          </p:cNvGraphicFramePr>
          <p:nvPr>
            <p:ph idx="1"/>
            <p:extLst>
              <p:ext uri="{D42A27DB-BD31-4B8C-83A1-F6EECF244321}">
                <p14:modId xmlns:p14="http://schemas.microsoft.com/office/powerpoint/2010/main" val="24851629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395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473779C-0F20-C753-C9CF-1B531DF68E33}"/>
              </a:ext>
            </a:extLst>
          </p:cNvPr>
          <p:cNvSpPr>
            <a:spLocks noGrp="1"/>
          </p:cNvSpPr>
          <p:nvPr>
            <p:ph type="title"/>
          </p:nvPr>
        </p:nvSpPr>
        <p:spPr>
          <a:xfrm>
            <a:off x="876691" y="301843"/>
            <a:ext cx="10477109" cy="1003532"/>
          </a:xfrm>
        </p:spPr>
        <p:txBody>
          <a:bodyPr vert="horz" lIns="91440" tIns="45720" rIns="91440" bIns="45720" rtlCol="0" anchor="ctr">
            <a:normAutofit/>
          </a:bodyPr>
          <a:lstStyle/>
          <a:p>
            <a:r>
              <a:rPr lang="en-US" sz="3200" kern="1200" dirty="0">
                <a:solidFill>
                  <a:srgbClr val="FFFFFF"/>
                </a:solidFill>
                <a:latin typeface="Arial" panose="020B0604020202020204" pitchFamily="34" charset="0"/>
                <a:cs typeface="Arial" panose="020B0604020202020204" pitchFamily="34" charset="0"/>
              </a:rPr>
              <a:t>Electrical Energy Provider </a:t>
            </a:r>
            <a:r>
              <a:rPr lang="en-US" sz="1200" dirty="0">
                <a:solidFill>
                  <a:schemeClr val="bg1"/>
                </a:solidFill>
                <a:latin typeface="Arial" panose="020B0604020202020204" pitchFamily="34" charset="0"/>
                <a:cs typeface="Arial" panose="020B0604020202020204" pitchFamily="34" charset="0"/>
              </a:rPr>
              <a:t>Hydro Ottawa. (</a:t>
            </a:r>
            <a:r>
              <a:rPr lang="en-US" sz="1200" dirty="0" err="1">
                <a:solidFill>
                  <a:schemeClr val="bg1"/>
                </a:solidFill>
                <a:latin typeface="Arial" panose="020B0604020202020204" pitchFamily="34" charset="0"/>
                <a:cs typeface="Arial" panose="020B0604020202020204" pitchFamily="34" charset="0"/>
              </a:rPr>
              <a:t>n.d</a:t>
            </a:r>
            <a:r>
              <a:rPr lang="en-US" sz="1200" dirty="0">
                <a:solidFill>
                  <a:schemeClr val="bg1"/>
                </a:solidFill>
                <a:latin typeface="Arial" panose="020B0604020202020204" pitchFamily="34" charset="0"/>
                <a:cs typeface="Arial" panose="020B0604020202020204" pitchFamily="34" charset="0"/>
              </a:rPr>
              <a:t>). </a:t>
            </a:r>
            <a:br>
              <a:rPr lang="en-US" sz="3200" dirty="0">
                <a:latin typeface="Arial" panose="020B0604020202020204" pitchFamily="34" charset="0"/>
                <a:cs typeface="Arial" panose="020B0604020202020204" pitchFamily="34" charset="0"/>
              </a:rPr>
            </a:br>
            <a:endParaRPr lang="en-US" sz="3200" kern="1200" dirty="0">
              <a:solidFill>
                <a:srgbClr val="FFFFF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0BDA92F-13B9-5B9C-CA33-49FE6EEA5115}"/>
              </a:ext>
            </a:extLst>
          </p:cNvPr>
          <p:cNvSpPr txBox="1"/>
          <p:nvPr/>
        </p:nvSpPr>
        <p:spPr>
          <a:xfrm>
            <a:off x="2241754" y="2308124"/>
            <a:ext cx="7720781" cy="367357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For my dream home in </a:t>
            </a:r>
            <a:r>
              <a:rPr lang="en-US" sz="2000" dirty="0" err="1">
                <a:latin typeface="Arial" panose="020B0604020202020204" pitchFamily="34" charset="0"/>
                <a:cs typeface="Arial" panose="020B0604020202020204" pitchFamily="34" charset="0"/>
              </a:rPr>
              <a:t>Barrhaven</a:t>
            </a:r>
            <a:r>
              <a:rPr lang="en-US" sz="2000" dirty="0">
                <a:latin typeface="Arial" panose="020B0604020202020204" pitchFamily="34" charset="0"/>
                <a:cs typeface="Arial" panose="020B0604020202020204" pitchFamily="34" charset="0"/>
              </a:rPr>
              <a:t>, Ontario, I decided to use electricity provided by Hydro Ottawa. This company supplies  electricity to homes in the Ottawa area.</a:t>
            </a:r>
          </a:p>
          <a:p>
            <a:pPr indent="-228600">
              <a:lnSpc>
                <a:spcPct val="90000"/>
              </a:lnSpc>
              <a:spcAft>
                <a:spcPts val="600"/>
              </a:spcAf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average residential electricity cost is approximately $0.12 per kWh. This electricity will be used to operate household appliances such as refrigerator, stove, dishwasher, washing machine and dryer.</a:t>
            </a:r>
          </a:p>
          <a:p>
            <a:pPr indent="-228600">
              <a:lnSpc>
                <a:spcPct val="90000"/>
              </a:lnSpc>
              <a:spcAft>
                <a:spcPts val="600"/>
              </a:spcAf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Electricity Provider: </a:t>
            </a:r>
            <a:r>
              <a:rPr lang="en-US" sz="2000" dirty="0">
                <a:latin typeface="Arial" panose="020B0604020202020204" pitchFamily="34" charset="0"/>
                <a:cs typeface="Arial" panose="020B0604020202020204" pitchFamily="34" charset="0"/>
              </a:rPr>
              <a:t>Hydro Ottawa</a:t>
            </a:r>
          </a:p>
          <a:p>
            <a:pPr indent="-228600">
              <a:lnSpc>
                <a:spcPct val="90000"/>
              </a:lnSpc>
              <a:spcAft>
                <a:spcPts val="600"/>
              </a:spcAft>
              <a:buFont typeface="Arial" panose="020B0604020202020204" pitchFamily="34" charset="0"/>
              <a:buChar char="•"/>
            </a:pPr>
            <a:r>
              <a:rPr lang="en-US" sz="2000" b="1" dirty="0">
                <a:latin typeface="Arial" panose="020B0604020202020204" pitchFamily="34" charset="0"/>
                <a:cs typeface="Arial" panose="020B0604020202020204" pitchFamily="34" charset="0"/>
              </a:rPr>
              <a:t>Energy cost: </a:t>
            </a:r>
            <a:r>
              <a:rPr lang="en-US" sz="2000" dirty="0">
                <a:latin typeface="Arial" panose="020B0604020202020204" pitchFamily="34" charset="0"/>
                <a:cs typeface="Arial" panose="020B0604020202020204" pitchFamily="34" charset="0"/>
              </a:rPr>
              <a:t>approximately $0.12 per kWh</a:t>
            </a:r>
          </a:p>
        </p:txBody>
      </p:sp>
    </p:spTree>
    <p:extLst>
      <p:ext uri="{BB962C8B-B14F-4D97-AF65-F5344CB8AC3E}">
        <p14:creationId xmlns:p14="http://schemas.microsoft.com/office/powerpoint/2010/main" val="3845331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1C42B39-A7A6-B7CA-D1EC-CEB91B886DE3}"/>
              </a:ext>
            </a:extLst>
          </p:cNvPr>
          <p:cNvSpPr>
            <a:spLocks noGrp="1"/>
          </p:cNvSpPr>
          <p:nvPr>
            <p:ph type="title"/>
          </p:nvPr>
        </p:nvSpPr>
        <p:spPr>
          <a:xfrm>
            <a:off x="876691" y="301843"/>
            <a:ext cx="10477109" cy="1003532"/>
          </a:xfrm>
        </p:spPr>
        <p:txBody>
          <a:bodyPr vert="horz" lIns="91440" tIns="45720" rIns="91440" bIns="45720" rtlCol="0" anchor="ctr">
            <a:normAutofit/>
          </a:bodyPr>
          <a:lstStyle/>
          <a:p>
            <a:r>
              <a:rPr lang="en-US" sz="3200" kern="1200" dirty="0">
                <a:solidFill>
                  <a:srgbClr val="FFFFFF"/>
                </a:solidFill>
                <a:latin typeface="Arial" panose="020B0604020202020204" pitchFamily="34" charset="0"/>
                <a:cs typeface="Arial" panose="020B0604020202020204" pitchFamily="34" charset="0"/>
              </a:rPr>
              <a:t>Energy for Home Heating and Hot Water</a:t>
            </a:r>
            <a:r>
              <a:rPr lang="en-US" sz="1200" dirty="0">
                <a:solidFill>
                  <a:schemeClr val="bg1"/>
                </a:solidFill>
                <a:latin typeface="Arial" panose="020B0604020202020204" pitchFamily="34" charset="0"/>
                <a:cs typeface="Arial" panose="020B0604020202020204" pitchFamily="34" charset="0"/>
              </a:rPr>
              <a:t> Enbridge Gas. (n.d.). </a:t>
            </a:r>
            <a:endParaRPr lang="en-US" sz="1200" kern="12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027F6DC-78CA-0A60-49E0-946C7937180A}"/>
              </a:ext>
            </a:extLst>
          </p:cNvPr>
          <p:cNvSpPr txBox="1"/>
          <p:nvPr/>
        </p:nvSpPr>
        <p:spPr>
          <a:xfrm>
            <a:off x="2241754" y="2308124"/>
            <a:ext cx="7720781" cy="367357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For heating and hot water in my home, I chose natural gas because it is commonly used in Ontario homes and is usually more affordable than electric heating.</a:t>
            </a:r>
          </a:p>
          <a:p>
            <a:pPr indent="-228600">
              <a:lnSpc>
                <a:spcPct val="90000"/>
              </a:lnSpc>
              <a:spcAft>
                <a:spcPts val="600"/>
              </a:spcAft>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The natural gas for home will be supplied by Enbridge Gas, which is the main natural  gas provider in Ontario.</a:t>
            </a:r>
          </a:p>
          <a:p>
            <a:pPr indent="-228600">
              <a:lnSpc>
                <a:spcPct val="90000"/>
              </a:lnSpc>
              <a:spcAft>
                <a:spcPts val="600"/>
              </a:spcAft>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The average cost of natural gas is about  $0.40 per cubic meter.</a:t>
            </a:r>
          </a:p>
          <a:p>
            <a:pPr indent="-228600">
              <a:lnSpc>
                <a:spcPct val="90000"/>
              </a:lnSpc>
              <a:spcAft>
                <a:spcPts val="600"/>
              </a:spcAft>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The natural gas will be used for the furnace heating system and the hot water heater in my home.</a:t>
            </a:r>
          </a:p>
          <a:p>
            <a:pPr indent="-228600">
              <a:lnSpc>
                <a:spcPct val="90000"/>
              </a:lnSpc>
              <a:spcAft>
                <a:spcPts val="600"/>
              </a:spcAft>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b="1" dirty="0">
                <a:latin typeface="Arial" panose="020B0604020202020204" pitchFamily="34" charset="0"/>
                <a:cs typeface="Arial" panose="020B0604020202020204" pitchFamily="34" charset="0"/>
              </a:rPr>
              <a:t>Energy Type: </a:t>
            </a:r>
            <a:r>
              <a:rPr lang="en-US" sz="1400" dirty="0">
                <a:latin typeface="Arial" panose="020B0604020202020204" pitchFamily="34" charset="0"/>
                <a:cs typeface="Arial" panose="020B0604020202020204" pitchFamily="34" charset="0"/>
              </a:rPr>
              <a:t>Natural Gas</a:t>
            </a:r>
          </a:p>
          <a:p>
            <a:pPr indent="-228600">
              <a:lnSpc>
                <a:spcPct val="90000"/>
              </a:lnSpc>
              <a:spcAft>
                <a:spcPts val="600"/>
              </a:spcAft>
              <a:buFont typeface="Arial" panose="020B0604020202020204" pitchFamily="34" charset="0"/>
              <a:buChar char="•"/>
            </a:pPr>
            <a:r>
              <a:rPr lang="en-US" sz="1400" b="1" dirty="0">
                <a:latin typeface="Arial" panose="020B0604020202020204" pitchFamily="34" charset="0"/>
                <a:cs typeface="Arial" panose="020B0604020202020204" pitchFamily="34" charset="0"/>
              </a:rPr>
              <a:t>Provider: </a:t>
            </a:r>
            <a:r>
              <a:rPr lang="en-US" sz="1400" dirty="0">
                <a:latin typeface="Arial" panose="020B0604020202020204" pitchFamily="34" charset="0"/>
                <a:cs typeface="Arial" panose="020B0604020202020204" pitchFamily="34" charset="0"/>
              </a:rPr>
              <a:t>Enbridge Gas</a:t>
            </a:r>
          </a:p>
          <a:p>
            <a:pPr indent="-228600">
              <a:lnSpc>
                <a:spcPct val="90000"/>
              </a:lnSpc>
              <a:spcAft>
                <a:spcPts val="600"/>
              </a:spcAft>
              <a:buFont typeface="Arial" panose="020B0604020202020204" pitchFamily="34" charset="0"/>
              <a:buChar char="•"/>
            </a:pPr>
            <a:r>
              <a:rPr lang="en-US" sz="1400" b="1" dirty="0">
                <a:latin typeface="Arial" panose="020B0604020202020204" pitchFamily="34" charset="0"/>
                <a:cs typeface="Arial" panose="020B0604020202020204" pitchFamily="34" charset="0"/>
              </a:rPr>
              <a:t>Energy cost: </a:t>
            </a:r>
            <a:r>
              <a:rPr lang="en-US" sz="1400" dirty="0">
                <a:latin typeface="Arial" panose="020B0604020202020204" pitchFamily="34" charset="0"/>
                <a:cs typeface="Arial" panose="020B0604020202020204" pitchFamily="34" charset="0"/>
              </a:rPr>
              <a:t>approximately $0.40 per cubic meter</a:t>
            </a:r>
          </a:p>
          <a:p>
            <a:pPr indent="-2286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036170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0A3CA6-36CB-20A6-47CC-1A4031CB84ED}"/>
              </a:ext>
            </a:extLst>
          </p:cNvPr>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dirty="0">
                <a:solidFill>
                  <a:srgbClr val="FFFFFF"/>
                </a:solidFill>
                <a:latin typeface="Arial" panose="020B0604020202020204" pitchFamily="34" charset="0"/>
                <a:cs typeface="Arial" panose="020B0604020202020204" pitchFamily="34" charset="0"/>
              </a:rPr>
              <a:t>Conclusion</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0408CDA-C428-FBB0-3F8C-8E21C7E4A749}"/>
              </a:ext>
            </a:extLst>
          </p:cNvPr>
          <p:cNvSpPr txBox="1"/>
          <p:nvPr/>
        </p:nvSpPr>
        <p:spPr>
          <a:xfrm>
            <a:off x="5370153" y="1526033"/>
            <a:ext cx="5536397" cy="393528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dirty="0">
                <a:latin typeface="Arial" panose="020B0604020202020204" pitchFamily="34" charset="0"/>
                <a:cs typeface="Arial" panose="020B0604020202020204" pitchFamily="34" charset="0"/>
              </a:rPr>
              <a:t>I  chose energy-efficient appliances and HVAC systems for my dream home in </a:t>
            </a:r>
            <a:r>
              <a:rPr lang="en-US" dirty="0" err="1">
                <a:latin typeface="Arial" panose="020B0604020202020204" pitchFamily="34" charset="0"/>
                <a:cs typeface="Arial" panose="020B0604020202020204" pitchFamily="34" charset="0"/>
              </a:rPr>
              <a:t>Barrhaven</a:t>
            </a:r>
            <a:r>
              <a:rPr lang="en-US" dirty="0">
                <a:latin typeface="Arial" panose="020B0604020202020204" pitchFamily="34" charset="0"/>
                <a:cs typeface="Arial" panose="020B0604020202020204" pitchFamily="34" charset="0"/>
              </a:rPr>
              <a:t>, Ontario. I focused on products that use less energy  and are better for the environment. I also selected suitable energy providers for  electricity and natural gas. This project helped me understand how choosing  efficient appliances and systems can you reduce energy use and make a home more environmentally friendly.</a:t>
            </a:r>
          </a:p>
        </p:txBody>
      </p:sp>
    </p:spTree>
    <p:extLst>
      <p:ext uri="{BB962C8B-B14F-4D97-AF65-F5344CB8AC3E}">
        <p14:creationId xmlns:p14="http://schemas.microsoft.com/office/powerpoint/2010/main" val="3534997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36895E-F64E-87E0-AA88-F33943DDFD2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dirty="0">
                <a:solidFill>
                  <a:schemeClr val="tx1"/>
                </a:solidFill>
                <a:latin typeface="Arial" panose="020B0604020202020204" pitchFamily="34" charset="0"/>
                <a:cs typeface="Arial" panose="020B0604020202020204" pitchFamily="34" charset="0"/>
              </a:rPr>
              <a:t>References</a:t>
            </a:r>
          </a:p>
        </p:txBody>
      </p:sp>
      <p:sp>
        <p:nvSpPr>
          <p:cNvPr id="8" name="Arc 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2EF81EB3-A944-71D4-446A-2486A2C2F15D}"/>
              </a:ext>
            </a:extLst>
          </p:cNvPr>
          <p:cNvSpPr txBox="1"/>
          <p:nvPr/>
        </p:nvSpPr>
        <p:spPr>
          <a:xfrm>
            <a:off x="838200" y="1825625"/>
            <a:ext cx="105156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rPr>
              <a:t>Canadian Appliance source. (2024). LG </a:t>
            </a:r>
            <a:r>
              <a:rPr lang="en-US" sz="1500" dirty="0" err="1">
                <a:latin typeface="Arial" panose="020B0604020202020204" pitchFamily="34" charset="0"/>
                <a:cs typeface="Arial" panose="020B0604020202020204" pitchFamily="34" charset="0"/>
              </a:rPr>
              <a:t>LRFLC2706S</a:t>
            </a:r>
            <a:r>
              <a:rPr lang="en-US" sz="1500" dirty="0">
                <a:latin typeface="Arial" panose="020B0604020202020204" pitchFamily="34" charset="0"/>
                <a:cs typeface="Arial" panose="020B0604020202020204" pitchFamily="34" charset="0"/>
              </a:rPr>
              <a:t> French door refrigerator.</a:t>
            </a: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hlinkClick r:id="rId2"/>
              </a:rPr>
              <a:t>https://</a:t>
            </a:r>
            <a:r>
              <a:rPr lang="en-US" sz="1500" dirty="0" err="1">
                <a:latin typeface="Arial" panose="020B0604020202020204" pitchFamily="34" charset="0"/>
                <a:cs typeface="Arial" panose="020B0604020202020204" pitchFamily="34" charset="0"/>
                <a:hlinkClick r:id="rId2"/>
              </a:rPr>
              <a:t>www.canadianappliance.ca</a:t>
            </a:r>
            <a:r>
              <a:rPr lang="en-US" sz="1500" dirty="0">
                <a:latin typeface="Arial" panose="020B0604020202020204" pitchFamily="34" charset="0"/>
                <a:cs typeface="Arial" panose="020B0604020202020204" pitchFamily="34" charset="0"/>
                <a:hlinkClick r:id="rId2"/>
              </a:rPr>
              <a:t>/product/</a:t>
            </a:r>
            <a:r>
              <a:rPr lang="en-US" sz="1500" dirty="0" err="1">
                <a:latin typeface="Arial" panose="020B0604020202020204" pitchFamily="34" charset="0"/>
                <a:cs typeface="Arial" panose="020B0604020202020204" pitchFamily="34" charset="0"/>
                <a:hlinkClick r:id="rId2"/>
              </a:rPr>
              <a:t>LG_LRFLC2706S_French_Door_Refrigerator_LG_LRFLC2706S.html</a:t>
            </a:r>
            <a:endParaRPr lang="en-US" sz="15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rPr>
              <a:t>Canadian Appliances source. (2024). Samsung </a:t>
            </a:r>
            <a:r>
              <a:rPr lang="en-US" sz="1500" i="1" dirty="0" err="1">
                <a:latin typeface="Arial" panose="020B0604020202020204" pitchFamily="34" charset="0"/>
                <a:cs typeface="Arial" panose="020B0604020202020204" pitchFamily="34" charset="0"/>
              </a:rPr>
              <a:t>NE63A6511SS</a:t>
            </a:r>
            <a:r>
              <a:rPr lang="en-US" sz="1500" i="1" dirty="0">
                <a:latin typeface="Arial" panose="020B0604020202020204" pitchFamily="34" charset="0"/>
                <a:cs typeface="Arial" panose="020B0604020202020204" pitchFamily="34" charset="0"/>
              </a:rPr>
              <a:t> electric range</a:t>
            </a:r>
            <a:r>
              <a:rPr lang="en-US" sz="15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hlinkClick r:id="rId3"/>
              </a:rPr>
              <a:t>https://</a:t>
            </a:r>
            <a:r>
              <a:rPr lang="en-US" sz="1500" dirty="0" err="1">
                <a:latin typeface="Arial" panose="020B0604020202020204" pitchFamily="34" charset="0"/>
                <a:cs typeface="Arial" panose="020B0604020202020204" pitchFamily="34" charset="0"/>
                <a:hlinkClick r:id="rId3"/>
              </a:rPr>
              <a:t>www.canadianappliance.ca</a:t>
            </a:r>
            <a:r>
              <a:rPr lang="en-US" sz="1500" dirty="0">
                <a:latin typeface="Arial" panose="020B0604020202020204" pitchFamily="34" charset="0"/>
                <a:cs typeface="Arial" panose="020B0604020202020204" pitchFamily="34" charset="0"/>
                <a:hlinkClick r:id="rId3"/>
              </a:rPr>
              <a:t>/product/</a:t>
            </a:r>
            <a:r>
              <a:rPr lang="en-US" sz="1500" dirty="0" err="1">
                <a:latin typeface="Arial" panose="020B0604020202020204" pitchFamily="34" charset="0"/>
                <a:cs typeface="Arial" panose="020B0604020202020204" pitchFamily="34" charset="0"/>
                <a:hlinkClick r:id="rId3"/>
              </a:rPr>
              <a:t>Samsung_NE63A6511SS_Electric_Range_Samsung_NE63A6511SS.html</a:t>
            </a:r>
            <a:r>
              <a:rPr lang="en-US" sz="15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rPr>
              <a:t>Canadian Appliances source. (2024). Bosch </a:t>
            </a:r>
            <a:r>
              <a:rPr lang="en-US" sz="1500" dirty="0" err="1">
                <a:latin typeface="Arial" panose="020B0604020202020204" pitchFamily="34" charset="0"/>
                <a:cs typeface="Arial" panose="020B0604020202020204" pitchFamily="34" charset="0"/>
              </a:rPr>
              <a:t>SHP78CM5N</a:t>
            </a:r>
            <a:r>
              <a:rPr lang="en-US" sz="1500" dirty="0">
                <a:latin typeface="Arial" panose="020B0604020202020204" pitchFamily="34" charset="0"/>
                <a:cs typeface="Arial" panose="020B0604020202020204" pitchFamily="34" charset="0"/>
              </a:rPr>
              <a:t> dishwasher</a:t>
            </a: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hlinkClick r:id="rId4"/>
              </a:rPr>
              <a:t>https://</a:t>
            </a:r>
            <a:r>
              <a:rPr lang="en-US" sz="1500" dirty="0" err="1">
                <a:latin typeface="Arial" panose="020B0604020202020204" pitchFamily="34" charset="0"/>
                <a:cs typeface="Arial" panose="020B0604020202020204" pitchFamily="34" charset="0"/>
                <a:hlinkClick r:id="rId4"/>
              </a:rPr>
              <a:t>www.canadianappliance.ca</a:t>
            </a:r>
            <a:r>
              <a:rPr lang="en-US" sz="1500" dirty="0">
                <a:latin typeface="Arial" panose="020B0604020202020204" pitchFamily="34" charset="0"/>
                <a:cs typeface="Arial" panose="020B0604020202020204" pitchFamily="34" charset="0"/>
                <a:hlinkClick r:id="rId4"/>
              </a:rPr>
              <a:t>/product/</a:t>
            </a:r>
            <a:r>
              <a:rPr lang="en-US" sz="1500" dirty="0" err="1">
                <a:latin typeface="Arial" panose="020B0604020202020204" pitchFamily="34" charset="0"/>
                <a:cs typeface="Arial" panose="020B0604020202020204" pitchFamily="34" charset="0"/>
                <a:hlinkClick r:id="rId4"/>
              </a:rPr>
              <a:t>Bosch_SHP78CM5N_Dishwasher_Bosch_SHP78CM5N.html</a:t>
            </a:r>
            <a:r>
              <a:rPr lang="en-US" sz="15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rPr>
              <a:t>Canadian Appliances source. (2024). </a:t>
            </a:r>
            <a:r>
              <a:rPr lang="en-US" sz="1500" i="1" dirty="0">
                <a:latin typeface="Arial" panose="020B0604020202020204" pitchFamily="34" charset="0"/>
                <a:cs typeface="Arial" panose="020B0604020202020204" pitchFamily="34" charset="0"/>
              </a:rPr>
              <a:t>Whirlpool </a:t>
            </a:r>
            <a:r>
              <a:rPr lang="en-US" sz="1500" i="1" dirty="0" err="1">
                <a:latin typeface="Arial" panose="020B0604020202020204" pitchFamily="34" charset="0"/>
                <a:cs typeface="Arial" panose="020B0604020202020204" pitchFamily="34" charset="0"/>
              </a:rPr>
              <a:t>WFW5720RW</a:t>
            </a:r>
            <a:r>
              <a:rPr lang="en-US" sz="1500" i="1" dirty="0">
                <a:latin typeface="Arial" panose="020B0604020202020204" pitchFamily="34" charset="0"/>
                <a:cs typeface="Arial" panose="020B0604020202020204" pitchFamily="34" charset="0"/>
              </a:rPr>
              <a:t> front load washer</a:t>
            </a:r>
            <a:r>
              <a:rPr lang="en-US" sz="15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hlinkClick r:id="rId5"/>
              </a:rPr>
              <a:t>https://</a:t>
            </a:r>
            <a:r>
              <a:rPr lang="en-US" sz="1500" dirty="0" err="1">
                <a:latin typeface="Arial" panose="020B0604020202020204" pitchFamily="34" charset="0"/>
                <a:cs typeface="Arial" panose="020B0604020202020204" pitchFamily="34" charset="0"/>
                <a:hlinkClick r:id="rId5"/>
              </a:rPr>
              <a:t>www.canadianappliance.ca</a:t>
            </a:r>
            <a:r>
              <a:rPr lang="en-US" sz="1500" dirty="0">
                <a:latin typeface="Arial" panose="020B0604020202020204" pitchFamily="34" charset="0"/>
                <a:cs typeface="Arial" panose="020B0604020202020204" pitchFamily="34" charset="0"/>
                <a:hlinkClick r:id="rId5"/>
              </a:rPr>
              <a:t>/product/</a:t>
            </a:r>
            <a:r>
              <a:rPr lang="en-US" sz="1500" dirty="0" err="1">
                <a:latin typeface="Arial" panose="020B0604020202020204" pitchFamily="34" charset="0"/>
                <a:cs typeface="Arial" panose="020B0604020202020204" pitchFamily="34" charset="0"/>
                <a:hlinkClick r:id="rId5"/>
              </a:rPr>
              <a:t>Whirlpool_WFW5720RW_Front_Load_Washer_Whirlpool_WFW5720RW.html</a:t>
            </a:r>
            <a:r>
              <a:rPr lang="en-US" sz="15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rPr>
              <a:t>Canadian Appliance Source. (2024). </a:t>
            </a:r>
            <a:r>
              <a:rPr lang="en-US" sz="1500" i="1" dirty="0">
                <a:latin typeface="Arial" panose="020B0604020202020204" pitchFamily="34" charset="0"/>
                <a:cs typeface="Arial" panose="020B0604020202020204" pitchFamily="34" charset="0"/>
              </a:rPr>
              <a:t>Whirlpool </a:t>
            </a:r>
            <a:r>
              <a:rPr lang="en-US" sz="1500" i="1" dirty="0" err="1">
                <a:latin typeface="Arial" panose="020B0604020202020204" pitchFamily="34" charset="0"/>
                <a:cs typeface="Arial" panose="020B0604020202020204" pitchFamily="34" charset="0"/>
              </a:rPr>
              <a:t>YWED5720RW</a:t>
            </a:r>
            <a:r>
              <a:rPr lang="en-US" sz="1500" i="1" dirty="0">
                <a:latin typeface="Arial" panose="020B0604020202020204" pitchFamily="34" charset="0"/>
                <a:cs typeface="Arial" panose="020B0604020202020204" pitchFamily="34" charset="0"/>
              </a:rPr>
              <a:t> electric dryer</a:t>
            </a:r>
            <a:r>
              <a:rPr lang="en-US" sz="15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500" dirty="0">
                <a:latin typeface="Arial" panose="020B0604020202020204" pitchFamily="34" charset="0"/>
                <a:cs typeface="Arial" panose="020B0604020202020204" pitchFamily="34" charset="0"/>
                <a:hlinkClick r:id="rId6"/>
              </a:rPr>
              <a:t>https://</a:t>
            </a:r>
            <a:r>
              <a:rPr lang="en-US" sz="1500" dirty="0" err="1">
                <a:latin typeface="Arial" panose="020B0604020202020204" pitchFamily="34" charset="0"/>
                <a:cs typeface="Arial" panose="020B0604020202020204" pitchFamily="34" charset="0"/>
                <a:hlinkClick r:id="rId6"/>
              </a:rPr>
              <a:t>www.canadianappliance.ca</a:t>
            </a:r>
            <a:r>
              <a:rPr lang="en-US" sz="1500" dirty="0">
                <a:latin typeface="Arial" panose="020B0604020202020204" pitchFamily="34" charset="0"/>
                <a:cs typeface="Arial" panose="020B0604020202020204" pitchFamily="34" charset="0"/>
                <a:hlinkClick r:id="rId6"/>
              </a:rPr>
              <a:t>/product/</a:t>
            </a:r>
            <a:r>
              <a:rPr lang="en-US" sz="1500" dirty="0" err="1">
                <a:latin typeface="Arial" panose="020B0604020202020204" pitchFamily="34" charset="0"/>
                <a:cs typeface="Arial" panose="020B0604020202020204" pitchFamily="34" charset="0"/>
                <a:hlinkClick r:id="rId6"/>
              </a:rPr>
              <a:t>Whirlpool_YWED5720RW_Electric_Dryer_Whirlpool_YWED5720RW.html</a:t>
            </a:r>
            <a:r>
              <a:rPr lang="en-US" sz="15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500" dirty="0"/>
          </a:p>
          <a:p>
            <a:pPr indent="-228600">
              <a:lnSpc>
                <a:spcPct val="90000"/>
              </a:lnSpc>
              <a:spcAft>
                <a:spcPts val="600"/>
              </a:spcAft>
              <a:buFont typeface="Arial" panose="020B0604020202020204" pitchFamily="34" charset="0"/>
              <a:buChar char="•"/>
            </a:pPr>
            <a:endParaRPr lang="en-US" sz="1500" dirty="0"/>
          </a:p>
        </p:txBody>
      </p:sp>
    </p:spTree>
    <p:extLst>
      <p:ext uri="{BB962C8B-B14F-4D97-AF65-F5344CB8AC3E}">
        <p14:creationId xmlns:p14="http://schemas.microsoft.com/office/powerpoint/2010/main" val="2394837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Box 1">
            <a:extLst>
              <a:ext uri="{FF2B5EF4-FFF2-40B4-BE49-F238E27FC236}">
                <a16:creationId xmlns:a16="http://schemas.microsoft.com/office/drawing/2014/main" id="{566EB7C8-3167-D288-2ED9-F95FF0B1A99F}"/>
              </a:ext>
            </a:extLst>
          </p:cNvPr>
          <p:cNvSpPr txBox="1"/>
          <p:nvPr/>
        </p:nvSpPr>
        <p:spPr>
          <a:xfrm>
            <a:off x="555710" y="1031147"/>
            <a:ext cx="10515600" cy="4351338"/>
          </a:xfrm>
          <a:prstGeom prst="rect">
            <a:avLst/>
          </a:prstGeom>
        </p:spPr>
        <p:txBody>
          <a:bodyPr vert="horz" lIns="91440" tIns="45720" rIns="91440" bIns="45720" rtlCol="0">
            <a:normAutofit fontScale="92500" lnSpcReduction="20000"/>
          </a:bodyPr>
          <a:lstStyle/>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HVAC fixed. (2024). </a:t>
            </a:r>
            <a:r>
              <a:rPr lang="en-US" sz="1600" i="1" dirty="0">
                <a:latin typeface="Arial" panose="020B0604020202020204" pitchFamily="34" charset="0"/>
                <a:cs typeface="Arial" panose="020B0604020202020204" pitchFamily="34" charset="0"/>
              </a:rPr>
              <a:t>John Wood tank water heater 50 gallon power vent model </a:t>
            </a:r>
            <a:r>
              <a:rPr lang="en-US" sz="1600" i="1" dirty="0" err="1">
                <a:latin typeface="Arial" panose="020B0604020202020204" pitchFamily="34" charset="0"/>
                <a:cs typeface="Arial" panose="020B0604020202020204" pitchFamily="34" charset="0"/>
              </a:rPr>
              <a:t>PV50N</a:t>
            </a:r>
            <a:r>
              <a:rPr lang="en-US" sz="1600" i="1" dirty="0">
                <a:latin typeface="Arial" panose="020B0604020202020204" pitchFamily="34" charset="0"/>
                <a:cs typeface="Arial" panose="020B0604020202020204" pitchFamily="34" charset="0"/>
              </a:rPr>
              <a:t>-40</a:t>
            </a:r>
            <a:r>
              <a:rPr lang="en-US" sz="16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2"/>
              </a:rPr>
              <a:t>https://</a:t>
            </a:r>
            <a:r>
              <a:rPr lang="en-US" sz="1600" dirty="0" err="1">
                <a:latin typeface="Arial" panose="020B0604020202020204" pitchFamily="34" charset="0"/>
                <a:cs typeface="Arial" panose="020B0604020202020204" pitchFamily="34" charset="0"/>
                <a:hlinkClick r:id="rId2"/>
              </a:rPr>
              <a:t>hvacfixed.ca</a:t>
            </a:r>
            <a:r>
              <a:rPr lang="en-US" sz="1600" dirty="0">
                <a:latin typeface="Arial" panose="020B0604020202020204" pitchFamily="34" charset="0"/>
                <a:cs typeface="Arial" panose="020B0604020202020204" pitchFamily="34" charset="0"/>
                <a:hlinkClick r:id="rId2"/>
              </a:rPr>
              <a:t>/product/john-wood-tank-water-heater-50-gallon-power-vent-model-</a:t>
            </a:r>
            <a:r>
              <a:rPr lang="en-US" sz="1600" dirty="0" err="1">
                <a:latin typeface="Arial" panose="020B0604020202020204" pitchFamily="34" charset="0"/>
                <a:cs typeface="Arial" panose="020B0604020202020204" pitchFamily="34" charset="0"/>
                <a:hlinkClick r:id="rId2"/>
              </a:rPr>
              <a:t>pv50n</a:t>
            </a:r>
            <a:r>
              <a:rPr lang="en-US" sz="1600" dirty="0">
                <a:latin typeface="Arial" panose="020B0604020202020204" pitchFamily="34" charset="0"/>
                <a:cs typeface="Arial" panose="020B0604020202020204" pitchFamily="34" charset="0"/>
                <a:hlinkClick r:id="rId2"/>
              </a:rPr>
              <a:t>-40/</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Master Builder Mercantile. (2024). </a:t>
            </a:r>
            <a:r>
              <a:rPr lang="en-US" sz="1600" i="1" dirty="0" err="1">
                <a:latin typeface="Arial" panose="020B0604020202020204" pitchFamily="34" charset="0"/>
                <a:cs typeface="Arial" panose="020B0604020202020204" pitchFamily="34" charset="0"/>
              </a:rPr>
              <a:t>Lifebreath</a:t>
            </a:r>
            <a:r>
              <a:rPr lang="en-US" sz="1600" i="1"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RNC155</a:t>
            </a:r>
            <a:r>
              <a:rPr lang="en-US" sz="1600" i="1" dirty="0">
                <a:latin typeface="Arial" panose="020B0604020202020204" pitchFamily="34" charset="0"/>
                <a:cs typeface="Arial" panose="020B0604020202020204" pitchFamily="34" charset="0"/>
              </a:rPr>
              <a:t> residential heat recovery ventilator (HRV)</a:t>
            </a:r>
            <a:r>
              <a:rPr lang="en-US" sz="16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3"/>
              </a:rPr>
              <a:t>https://</a:t>
            </a:r>
            <a:r>
              <a:rPr lang="en-US" sz="1600" dirty="0" err="1">
                <a:latin typeface="Arial" panose="020B0604020202020204" pitchFamily="34" charset="0"/>
                <a:cs typeface="Arial" panose="020B0604020202020204" pitchFamily="34" charset="0"/>
                <a:hlinkClick r:id="rId3"/>
              </a:rPr>
              <a:t>masterbuildermercantile.ca</a:t>
            </a:r>
            <a:r>
              <a:rPr lang="en-US" sz="1600" dirty="0">
                <a:latin typeface="Arial" panose="020B0604020202020204" pitchFamily="34" charset="0"/>
                <a:cs typeface="Arial" panose="020B0604020202020204" pitchFamily="34" charset="0"/>
                <a:hlinkClick r:id="rId3"/>
              </a:rPr>
              <a:t>/products/lifebreath-rnc155-residential-heat-recovery-ventilator-hrv-132cfm</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HVAC Fixed. (2024). </a:t>
            </a:r>
            <a:r>
              <a:rPr lang="en-US" sz="1600" i="1" dirty="0">
                <a:latin typeface="Arial" panose="020B0604020202020204" pitchFamily="34" charset="0"/>
                <a:cs typeface="Arial" panose="020B0604020202020204" pitchFamily="34" charset="0"/>
              </a:rPr>
              <a:t>Bosch central heat pump 36000 BTU SEER 20.5 model </a:t>
            </a:r>
            <a:r>
              <a:rPr lang="en-US" sz="1600" i="1" dirty="0" err="1">
                <a:latin typeface="Arial" panose="020B0604020202020204" pitchFamily="34" charset="0"/>
                <a:cs typeface="Arial" panose="020B0604020202020204" pitchFamily="34" charset="0"/>
              </a:rPr>
              <a:t>BOVA36</a:t>
            </a:r>
            <a:r>
              <a:rPr lang="en-US" sz="16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4"/>
              </a:rPr>
              <a:t>https://</a:t>
            </a:r>
            <a:r>
              <a:rPr lang="en-US" sz="1600" dirty="0" err="1">
                <a:latin typeface="Arial" panose="020B0604020202020204" pitchFamily="34" charset="0"/>
                <a:cs typeface="Arial" panose="020B0604020202020204" pitchFamily="34" charset="0"/>
                <a:hlinkClick r:id="rId4"/>
              </a:rPr>
              <a:t>hvacfixed.ca</a:t>
            </a:r>
            <a:r>
              <a:rPr lang="en-US" sz="1600" dirty="0">
                <a:latin typeface="Arial" panose="020B0604020202020204" pitchFamily="34" charset="0"/>
                <a:cs typeface="Arial" panose="020B0604020202020204" pitchFamily="34" charset="0"/>
                <a:hlinkClick r:id="rId4"/>
              </a:rPr>
              <a:t>/product/</a:t>
            </a:r>
            <a:r>
              <a:rPr lang="en-US" sz="1600" dirty="0" err="1">
                <a:latin typeface="Arial" panose="020B0604020202020204" pitchFamily="34" charset="0"/>
                <a:cs typeface="Arial" panose="020B0604020202020204" pitchFamily="34" charset="0"/>
                <a:hlinkClick r:id="rId4"/>
              </a:rPr>
              <a:t>bosch</a:t>
            </a:r>
            <a:r>
              <a:rPr lang="en-US" sz="1600" dirty="0">
                <a:latin typeface="Arial" panose="020B0604020202020204" pitchFamily="34" charset="0"/>
                <a:cs typeface="Arial" panose="020B0604020202020204" pitchFamily="34" charset="0"/>
                <a:hlinkClick r:id="rId4"/>
              </a:rPr>
              <a:t>-central-heat-pump-36000-btu-seer-20-5-model-</a:t>
            </a:r>
            <a:r>
              <a:rPr lang="en-US" sz="1600" dirty="0" err="1">
                <a:latin typeface="Arial" panose="020B0604020202020204" pitchFamily="34" charset="0"/>
                <a:cs typeface="Arial" panose="020B0604020202020204" pitchFamily="34" charset="0"/>
                <a:hlinkClick r:id="rId4"/>
              </a:rPr>
              <a:t>bova36</a:t>
            </a:r>
            <a:r>
              <a:rPr lang="en-US" sz="1600" dirty="0">
                <a:latin typeface="Arial" panose="020B0604020202020204" pitchFamily="34" charset="0"/>
                <a:cs typeface="Arial" panose="020B0604020202020204" pitchFamily="34" charset="0"/>
                <a:hlinkClick r:id="rId4"/>
              </a:rPr>
              <a:t>/</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Natural Resources Canada. (2024). </a:t>
            </a:r>
            <a:r>
              <a:rPr lang="en-US" sz="1600" i="1" dirty="0">
                <a:latin typeface="Arial" panose="020B0604020202020204" pitchFamily="34" charset="0"/>
                <a:cs typeface="Arial" panose="020B0604020202020204" pitchFamily="34" charset="0"/>
              </a:rPr>
              <a:t>ENERGY STAR certified products</a:t>
            </a:r>
            <a:r>
              <a:rPr lang="en-US" sz="1600" dirty="0">
                <a:latin typeface="Arial" panose="020B0604020202020204" pitchFamily="34" charset="0"/>
                <a:cs typeface="Arial" panose="020B0604020202020204" pitchFamily="34" charset="0"/>
              </a:rPr>
              <a:t>.</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5"/>
              </a:rPr>
              <a:t>https://natural-</a:t>
            </a:r>
            <a:r>
              <a:rPr lang="en-US" sz="1600" dirty="0" err="1">
                <a:latin typeface="Arial" panose="020B0604020202020204" pitchFamily="34" charset="0"/>
                <a:cs typeface="Arial" panose="020B0604020202020204" pitchFamily="34" charset="0"/>
                <a:hlinkClick r:id="rId5"/>
              </a:rPr>
              <a:t>resources.canada.ca</a:t>
            </a:r>
            <a:r>
              <a:rPr lang="en-US" sz="1600" dirty="0">
                <a:latin typeface="Arial" panose="020B0604020202020204" pitchFamily="34" charset="0"/>
                <a:cs typeface="Arial" panose="020B0604020202020204" pitchFamily="34" charset="0"/>
                <a:hlinkClick r:id="rId5"/>
              </a:rPr>
              <a:t>/energy-efficiency/energy-star/products</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Hydro Ottawa. (</a:t>
            </a:r>
            <a:r>
              <a:rPr lang="en-US" sz="1600" dirty="0" err="1">
                <a:latin typeface="Arial" panose="020B0604020202020204" pitchFamily="34" charset="0"/>
                <a:cs typeface="Arial" panose="020B0604020202020204" pitchFamily="34" charset="0"/>
              </a:rPr>
              <a:t>n.d</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6"/>
              </a:rPr>
              <a:t>https://</a:t>
            </a:r>
            <a:r>
              <a:rPr lang="en-US" sz="1600" dirty="0" err="1">
                <a:latin typeface="Arial" panose="020B0604020202020204" pitchFamily="34" charset="0"/>
                <a:cs typeface="Arial" panose="020B0604020202020204" pitchFamily="34" charset="0"/>
                <a:hlinkClick r:id="rId6"/>
              </a:rPr>
              <a:t>hydroottawa.com</a:t>
            </a:r>
            <a:r>
              <a:rPr lang="en-US" sz="1600" dirty="0">
                <a:latin typeface="Arial" panose="020B0604020202020204" pitchFamily="34" charset="0"/>
                <a:cs typeface="Arial" panose="020B0604020202020204" pitchFamily="34" charset="0"/>
                <a:hlinkClick r:id="rId6"/>
              </a:rPr>
              <a:t>/</a:t>
            </a:r>
            <a:r>
              <a:rPr lang="en-US" sz="1600" dirty="0" err="1">
                <a:latin typeface="Arial" panose="020B0604020202020204" pitchFamily="34" charset="0"/>
                <a:cs typeface="Arial" panose="020B0604020202020204" pitchFamily="34" charset="0"/>
                <a:hlinkClick r:id="rId6"/>
              </a:rPr>
              <a:t>en</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Enbridge Gas. (n.d.). </a:t>
            </a:r>
            <a:r>
              <a:rPr lang="en-US" sz="1600" i="1" dirty="0">
                <a:latin typeface="Arial" panose="020B0604020202020204" pitchFamily="34" charset="0"/>
                <a:cs typeface="Arial" panose="020B0604020202020204" pitchFamily="34" charset="0"/>
              </a:rPr>
              <a:t>My account – </a:t>
            </a:r>
            <a:r>
              <a:rPr lang="en-US" sz="1600" i="1" dirty="0" err="1">
                <a:latin typeface="Arial" panose="020B0604020202020204" pitchFamily="34" charset="0"/>
                <a:cs typeface="Arial" panose="020B0604020202020204" pitchFamily="34" charset="0"/>
              </a:rPr>
              <a:t>eBill</a:t>
            </a:r>
            <a:r>
              <a:rPr lang="en-US" sz="1600" dirty="0">
                <a:latin typeface="Arial" panose="020B0604020202020204" pitchFamily="34" charset="0"/>
                <a:cs typeface="Arial" panose="020B0604020202020204" pitchFamily="34" charset="0"/>
              </a:rPr>
              <a:t>. </a:t>
            </a:r>
          </a:p>
          <a:p>
            <a:pPr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hlinkClick r:id="rId7"/>
              </a:rPr>
              <a:t>https://</a:t>
            </a:r>
            <a:r>
              <a:rPr lang="en-US" sz="1600" dirty="0" err="1">
                <a:latin typeface="Arial" panose="020B0604020202020204" pitchFamily="34" charset="0"/>
                <a:cs typeface="Arial" panose="020B0604020202020204" pitchFamily="34" charset="0"/>
                <a:hlinkClick r:id="rId7"/>
              </a:rPr>
              <a:t>www.enbridgegas.com</a:t>
            </a:r>
            <a:r>
              <a:rPr lang="en-US" sz="1600" dirty="0">
                <a:latin typeface="Arial" panose="020B0604020202020204" pitchFamily="34" charset="0"/>
                <a:cs typeface="Arial" panose="020B0604020202020204" pitchFamily="34" charset="0"/>
                <a:hlinkClick r:id="rId7"/>
              </a:rPr>
              <a:t>/</a:t>
            </a:r>
            <a:r>
              <a:rPr lang="en-US" sz="1600" dirty="0" err="1">
                <a:latin typeface="Arial" panose="020B0604020202020204" pitchFamily="34" charset="0"/>
                <a:cs typeface="Arial" panose="020B0604020202020204" pitchFamily="34" charset="0"/>
                <a:hlinkClick r:id="rId7"/>
              </a:rPr>
              <a:t>ontario</a:t>
            </a:r>
            <a:r>
              <a:rPr lang="en-US" sz="1600" dirty="0">
                <a:latin typeface="Arial" panose="020B0604020202020204" pitchFamily="34" charset="0"/>
                <a:cs typeface="Arial" panose="020B0604020202020204" pitchFamily="34" charset="0"/>
                <a:hlinkClick r:id="rId7"/>
              </a:rPr>
              <a:t>/my-account/</a:t>
            </a:r>
            <a:r>
              <a:rPr lang="en-US" sz="1600" dirty="0" err="1">
                <a:latin typeface="Arial" panose="020B0604020202020204" pitchFamily="34" charset="0"/>
                <a:cs typeface="Arial" panose="020B0604020202020204" pitchFamily="34" charset="0"/>
                <a:hlinkClick r:id="rId7"/>
              </a:rPr>
              <a:t>ebill</a:t>
            </a:r>
            <a:endParaRPr lang="en-US" sz="16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p:txBody>
      </p:sp>
    </p:spTree>
    <p:extLst>
      <p:ext uri="{BB962C8B-B14F-4D97-AF65-F5344CB8AC3E}">
        <p14:creationId xmlns:p14="http://schemas.microsoft.com/office/powerpoint/2010/main" val="2406084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6668" cy="4570886"/>
            <a:chOff x="0" y="0"/>
            <a:chExt cx="12196668" cy="4570886"/>
          </a:xfrm>
        </p:grpSpPr>
        <p:sp>
          <p:nvSpPr>
            <p:cNvPr id="10" name="Rectangle 9">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extBox 1">
            <a:extLst>
              <a:ext uri="{FF2B5EF4-FFF2-40B4-BE49-F238E27FC236}">
                <a16:creationId xmlns:a16="http://schemas.microsoft.com/office/drawing/2014/main" id="{6F28204F-65BA-3828-A799-0ECD5C4F3536}"/>
              </a:ext>
            </a:extLst>
          </p:cNvPr>
          <p:cNvSpPr txBox="1"/>
          <p:nvPr/>
        </p:nvSpPr>
        <p:spPr>
          <a:xfrm>
            <a:off x="1126348" y="1124262"/>
            <a:ext cx="8017652" cy="269041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5400" kern="1200" dirty="0">
                <a:solidFill>
                  <a:srgbClr val="FFFFFF"/>
                </a:solidFill>
                <a:latin typeface="Arial" panose="020B0604020202020204" pitchFamily="34" charset="0"/>
                <a:ea typeface="+mj-ea"/>
                <a:cs typeface="Arial" panose="020B0604020202020204" pitchFamily="34" charset="0"/>
              </a:rPr>
              <a:t>Thank you  </a:t>
            </a:r>
          </a:p>
        </p:txBody>
      </p:sp>
      <p:pic>
        <p:nvPicPr>
          <p:cNvPr id="15" name="Graphic 14" descr="Smiling Face with No Fill">
            <a:extLst>
              <a:ext uri="{FF2B5EF4-FFF2-40B4-BE49-F238E27FC236}">
                <a16:creationId xmlns:a16="http://schemas.microsoft.com/office/drawing/2014/main" id="{CFDBEE38-D479-7067-F8FF-2E3A8A0676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5646" y="5061057"/>
            <a:ext cx="1199733" cy="1199733"/>
          </a:xfrm>
          <a:prstGeom prst="rect">
            <a:avLst/>
          </a:prstGeom>
        </p:spPr>
      </p:pic>
    </p:spTree>
    <p:extLst>
      <p:ext uri="{BB962C8B-B14F-4D97-AF65-F5344CB8AC3E}">
        <p14:creationId xmlns:p14="http://schemas.microsoft.com/office/powerpoint/2010/main" val="283605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7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F0E1A6850089498E82DEA7AC7065B0" ma:contentTypeVersion="9" ma:contentTypeDescription="Create a new document." ma:contentTypeScope="" ma:versionID="54f8a401127be0fab3c27849f395a0ce">
  <xsd:schema xmlns:xsd="http://www.w3.org/2001/XMLSchema" xmlns:xs="http://www.w3.org/2001/XMLSchema" xmlns:p="http://schemas.microsoft.com/office/2006/metadata/properties" xmlns:ns3="0c55668c-9a19-4aa1-be77-abe4e5e363f8" targetNamespace="http://schemas.microsoft.com/office/2006/metadata/properties" ma:root="true" ma:fieldsID="c00d17d56c75162312b7a001b604859e" ns3:_="">
    <xsd:import namespace="0c55668c-9a19-4aa1-be77-abe4e5e363f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55668c-9a19-4aa1-be77-abe4e5e363f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c55668c-9a19-4aa1-be77-abe4e5e363f8" xsi:nil="true"/>
  </documentManagement>
</p:properties>
</file>

<file path=customXml/itemProps1.xml><?xml version="1.0" encoding="utf-8"?>
<ds:datastoreItem xmlns:ds="http://schemas.openxmlformats.org/officeDocument/2006/customXml" ds:itemID="{A5C94206-4EBF-4932-9A84-D0260A4992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55668c-9a19-4aa1-be77-abe4e5e363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0EA50E4-3C0D-45A0-BD57-FDB5DA882C6C}">
  <ds:schemaRefs>
    <ds:schemaRef ds:uri="http://schemas.microsoft.com/sharepoint/v3/contenttype/forms"/>
  </ds:schemaRefs>
</ds:datastoreItem>
</file>

<file path=customXml/itemProps3.xml><?xml version="1.0" encoding="utf-8"?>
<ds:datastoreItem xmlns:ds="http://schemas.openxmlformats.org/officeDocument/2006/customXml" ds:itemID="{08B869C0-6A9E-4CAC-9629-7AD5B6704CF1}">
  <ds:schemaRefs>
    <ds:schemaRef ds:uri="http://www.w3.org/XML/1998/namespace"/>
    <ds:schemaRef ds:uri="http://purl.org/dc/elements/1.1/"/>
    <ds:schemaRef ds:uri="http://schemas.microsoft.com/office/2006/documentManagement/types"/>
    <ds:schemaRef ds:uri="http://schemas.microsoft.com/office/infopath/2007/PartnerControls"/>
    <ds:schemaRef ds:uri="http://purl.org/dc/terms/"/>
    <ds:schemaRef ds:uri="http://purl.org/dc/dcmitype/"/>
    <ds:schemaRef ds:uri="http://schemas.openxmlformats.org/package/2006/metadata/core-properties"/>
    <ds:schemaRef ds:uri="0c55668c-9a19-4aa1-be77-abe4e5e363f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2612</TotalTime>
  <Words>1234</Words>
  <Application>Microsoft Office PowerPoint</Application>
  <PresentationFormat>Widescreen</PresentationFormat>
  <Paragraphs>140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Home Appliances and Home Comfort Assignment Dream Home in Barrhaven</vt:lpstr>
      <vt:lpstr>Agenda</vt:lpstr>
      <vt:lpstr>Part A:  Complete listing of all Appliances</vt:lpstr>
      <vt:lpstr>Refrigerator  Canadian Appliance source. (2024). </vt:lpstr>
      <vt:lpstr>Electric Stove Canadian Appliances source. (2024).</vt:lpstr>
      <vt:lpstr>Dishwasher Canadian Appliances source. (2024).</vt:lpstr>
      <vt:lpstr>Washing Machine Canadian Appliances source. (2024).</vt:lpstr>
      <vt:lpstr>Dryer Canadian Appliance Source. (2024).</vt:lpstr>
      <vt:lpstr>Part B: Heating, Cooling Equipments</vt:lpstr>
      <vt:lpstr>Water Heater HVAC fixed. (2024).</vt:lpstr>
      <vt:lpstr>Heat Recovery Ventilator(HRV) Master Builder Mercantile. (2024). </vt:lpstr>
      <vt:lpstr>Heating and cooling system HVAC Fixed. (2024).</vt:lpstr>
      <vt:lpstr>Part C: Energy Use</vt:lpstr>
      <vt:lpstr>Electrical Energy Provider Hydro Ottawa. (n.d).  </vt:lpstr>
      <vt:lpstr>Energy for Home Heating and Hot Water Enbridge Gas. (n.d.). </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Hiralben Prajapati</dc:creator>
  <cp:lastModifiedBy>Hiralben Prajapati</cp:lastModifiedBy>
  <cp:revision>7</cp:revision>
  <dcterms:created xsi:type="dcterms:W3CDTF">2026-03-04T19:26:19Z</dcterms:created>
  <dcterms:modified xsi:type="dcterms:W3CDTF">2026-03-11T22:42:01Z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0x010100B6F0E1A6850089498E82DEA7AC7065B0</vt:lpwstr>
  </property>
</Properties>
</file>